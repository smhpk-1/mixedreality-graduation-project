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jpg"/><Relationship Id="rId4" Type="http://schemas.openxmlformats.org/officeDocument/2006/relationships/image" Target="../media/image11.png"/><Relationship Id="rId5" Type="http://schemas.openxmlformats.org/officeDocument/2006/relationships/image" Target="../media/image12.jpg"/><Relationship Id="rId6" Type="http://schemas.openxmlformats.org/officeDocument/2006/relationships/image" Target="../media/image1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9.jpg"/><Relationship Id="rId4" Type="http://schemas.openxmlformats.org/officeDocument/2006/relationships/image" Target="../media/image3.jpg"/><Relationship Id="rId5" Type="http://schemas.openxmlformats.org/officeDocument/2006/relationships/image" Target="../media/image1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0.jpg"/><Relationship Id="rId4" Type="http://schemas.openxmlformats.org/officeDocument/2006/relationships/image" Target="../media/image17.png"/><Relationship Id="rId5" Type="http://schemas.openxmlformats.org/officeDocument/2006/relationships/image" Target="../media/image4.jpg"/><Relationship Id="rId6" Type="http://schemas.openxmlformats.org/officeDocument/2006/relationships/image" Target="../media/image1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Relationship Id="rId4" Type="http://schemas.openxmlformats.org/officeDocument/2006/relationships/image" Target="../media/image21.png"/><Relationship Id="rId5" Type="http://schemas.openxmlformats.org/officeDocument/2006/relationships/image" Target="../media/image22.jpg"/><Relationship Id="rId6" Type="http://schemas.openxmlformats.org/officeDocument/2006/relationships/image" Target="../media/image2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9E1EE"/>
                </a:solidFill>
                <a:latin typeface="Helvetica Neue"/>
              </a:rPr>
              <a:t>01</a:t>
            </a:r>
            <a:r>
              <a:rPr sz="1250" b="0" i="0">
                <a:solidFill>
                  <a:srgbClr val="6B7488"/>
                </a:solidFill>
                <a:latin typeface="Helvetica Neue"/>
              </a:rPr>
              <a:t>  ·  </a:t>
            </a:r>
            <a:r>
              <a:rPr sz="1250" b="1" i="0" spc="220">
                <a:solidFill>
                  <a:srgbClr val="39E1EE"/>
                </a:solidFill>
                <a:latin typeface="Helvetica Neue"/>
              </a:rPr>
              <a:t>MUS 442 FINAL PRESENTATION</a:t>
            </a:r>
          </a:p>
        </p:txBody>
      </p:sp>
      <p:pic>
        <p:nvPicPr>
          <p:cNvPr id="3" name="Picture 2" descr="title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749808"/>
            <a:ext cx="6035040" cy="1367942"/>
          </a:xfrm>
          <a:prstGeom prst="rect">
            <a:avLst/>
          </a:prstGeom>
          <a:effectLst/>
        </p:spPr>
      </p:pic>
      <p:sp>
        <p:nvSpPr>
          <p:cNvPr id="4" name="TextBox 3"/>
          <p:cNvSpPr txBox="1"/>
          <p:nvPr/>
        </p:nvSpPr>
        <p:spPr>
          <a:xfrm>
            <a:off x="502920" y="2286000"/>
            <a:ext cx="5943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 i="0">
                <a:solidFill>
                  <a:srgbClr val="EEF1F8"/>
                </a:solidFill>
                <a:latin typeface="Helvetica Neue"/>
              </a:rPr>
              <a:t>A first-person VR sound narrative about maladaptive daydreaming, everyday repetition, and the clocks hidden inside escape.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3101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A3B8"/>
                </a:solidFill>
                <a:latin typeface="Helvetica Neue"/>
              </a:rPr>
              <a:t>Scene 1: </a:t>
            </a:r>
            <a:r>
              <a:rPr sz="1300" b="1" i="0">
                <a:solidFill>
                  <a:srgbClr val="FF5A4E"/>
                </a:solidFill>
                <a:latin typeface="Helvetica Neue"/>
              </a:rPr>
              <a:t>The Shift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767328"/>
            <a:ext cx="60350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0">
                <a:solidFill>
                  <a:srgbClr val="6B7488"/>
                </a:solidFill>
                <a:latin typeface="Helvetica Neue"/>
              </a:rPr>
              <a:t>Author: </a:t>
            </a:r>
            <a:r>
              <a:rPr sz="1200" b="1" i="0">
                <a:solidFill>
                  <a:srgbClr val="EEF1F8"/>
                </a:solidFill>
                <a:latin typeface="Helvetica Neue"/>
              </a:rPr>
              <a:t>Semiha Paksoy</a:t>
            </a:r>
            <a:r>
              <a:rPr sz="1200" b="0" i="0">
                <a:solidFill>
                  <a:srgbClr val="6B7488"/>
                </a:solidFill>
                <a:latin typeface="Helvetica Neue"/>
              </a:rPr>
              <a:t>   ·   </a:t>
            </a:r>
            <a:r>
              <a:rPr sz="1200" b="1" i="0">
                <a:solidFill>
                  <a:srgbClr val="39E1EE"/>
                </a:solidFill>
                <a:latin typeface="Helvetica Neue"/>
              </a:rPr>
              <a:t>semihapaksoy.com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0">
                <a:solidFill>
                  <a:srgbClr val="6B7488"/>
                </a:solidFill>
                <a:latin typeface="Helvetica Neue"/>
              </a:rPr>
              <a:t>Project supervisor: </a:t>
            </a:r>
            <a:r>
              <a:rPr sz="1200" b="0" i="0">
                <a:solidFill>
                  <a:srgbClr val="EEF1F8"/>
                </a:solidFill>
                <a:latin typeface="Helvetica Neue"/>
              </a:rPr>
              <a:t>Tolga Tüzün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0">
                <a:solidFill>
                  <a:srgbClr val="6B7488"/>
                </a:solidFill>
                <a:latin typeface="Helvetica Neue"/>
              </a:rPr>
              <a:t>Course instructors / advisor jury: </a:t>
            </a:r>
            <a:r>
              <a:rPr sz="1200" b="0" i="0">
                <a:solidFill>
                  <a:srgbClr val="9AA3B8"/>
                </a:solidFill>
                <a:latin typeface="Helvetica Neue"/>
              </a:rPr>
              <a:t>Tolga Tüzün, Oğuz Usman, Enis Gümüş, Yiğit Özatalay, Cem Ömeroğlu, Semin Tunalı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056132" cy="384048"/>
          </a:xfrm>
          <a:prstGeom prst="roundRect">
            <a:avLst>
              <a:gd name="adj" fmla="val 50000"/>
            </a:avLst>
          </a:prstGeom>
          <a:solidFill>
            <a:srgbClr val="191E2C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30936" y="5212080"/>
            <a:ext cx="109728" cy="109728"/>
          </a:xfrm>
          <a:prstGeom prst="ellipse">
            <a:avLst/>
          </a:prstGeom>
          <a:solidFill>
            <a:srgbClr val="FF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5138928"/>
            <a:ext cx="7818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EF1F8"/>
                </a:solidFill>
                <a:latin typeface="Helvetica Neue"/>
              </a:rPr>
              <a:t>factory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05356" y="5074920"/>
            <a:ext cx="1344168" cy="384048"/>
          </a:xfrm>
          <a:prstGeom prst="roundRect">
            <a:avLst>
              <a:gd name="adj" fmla="val 50000"/>
            </a:avLst>
          </a:prstGeom>
          <a:solidFill>
            <a:srgbClr val="191E2C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833372" y="5212080"/>
            <a:ext cx="109728" cy="109728"/>
          </a:xfrm>
          <a:prstGeom prst="ellipse">
            <a:avLst/>
          </a:prstGeom>
          <a:solidFill>
            <a:srgbClr val="E84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07107" y="5138928"/>
            <a:ext cx="10698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EF1F8"/>
                </a:solidFill>
                <a:latin typeface="Helvetica Neue"/>
              </a:rPr>
              <a:t>playground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95828" y="5074920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191E2C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323844" y="5212080"/>
            <a:ext cx="109728" cy="109728"/>
          </a:xfrm>
          <a:prstGeom prst="ellipse">
            <a:avLst/>
          </a:prstGeom>
          <a:solidFill>
            <a:srgbClr val="2EC5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7580" y="5138928"/>
            <a:ext cx="877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EF1F8"/>
                </a:solidFill>
                <a:latin typeface="Helvetica Neue"/>
              </a:rPr>
              <a:t>platform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94276" y="5074920"/>
            <a:ext cx="1056132" cy="384048"/>
          </a:xfrm>
          <a:prstGeom prst="roundRect">
            <a:avLst>
              <a:gd name="adj" fmla="val 50000"/>
            </a:avLst>
          </a:prstGeom>
          <a:solidFill>
            <a:srgbClr val="191E2C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22292" y="5212080"/>
            <a:ext cx="109728" cy="109728"/>
          </a:xfrm>
          <a:prstGeom prst="ellipse">
            <a:avLst/>
          </a:prstGeom>
          <a:solidFill>
            <a:srgbClr val="9B6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96028" y="5138928"/>
            <a:ext cx="7818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EF1F8"/>
                </a:solidFill>
                <a:latin typeface="Helvetica Neue"/>
              </a:rPr>
              <a:t>concert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96712" y="5074920"/>
            <a:ext cx="864108" cy="384048"/>
          </a:xfrm>
          <a:prstGeom prst="roundRect">
            <a:avLst>
              <a:gd name="adj" fmla="val 50000"/>
            </a:avLst>
          </a:prstGeom>
          <a:solidFill>
            <a:srgbClr val="191E2C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24728" y="5212080"/>
            <a:ext cx="109728" cy="109728"/>
          </a:xfrm>
          <a:prstGeom prst="ellipse">
            <a:avLst/>
          </a:prstGeom>
          <a:solidFill>
            <a:srgbClr val="FFD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98464" y="5138928"/>
            <a:ext cx="5897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EF1F8"/>
                </a:solidFill>
                <a:latin typeface="Helvetica Neue"/>
              </a:rPr>
              <a:t>clock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806440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100" b="0" i="0">
                <a:solidFill>
                  <a:srgbClr val="9AA3B8"/>
                </a:solidFill>
                <a:latin typeface="Helvetica Neue"/>
              </a:rPr>
              <a:t>Meta Quest 3S   |   Unity 6   |   OpenXR   |   Sound Installation and Multimedia Project   |   June 2026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950" b="0" i="0">
                <a:solidFill>
                  <a:srgbClr val="6B7488"/>
                </a:solidFill>
                <a:latin typeface="Helvetica Neue"/>
              </a:rPr>
              <a:t>All stills captured from the original Quest 3S headset recording</a:t>
            </a:r>
          </a:p>
        </p:txBody>
      </p:sp>
      <p:pic>
        <p:nvPicPr>
          <p:cNvPr id="23" name="Picture 22" descr="s1_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914400"/>
            <a:ext cx="2395728" cy="1347597"/>
          </a:xfrm>
          <a:prstGeom prst="rect">
            <a:avLst/>
          </a:prstGeom>
          <a:ln w="9525">
            <a:solidFill>
              <a:srgbClr val="262D40"/>
            </a:solidFill>
          </a:ln>
          <a:effectLst/>
        </p:spPr>
      </p:pic>
      <p:sp>
        <p:nvSpPr>
          <p:cNvPr id="24" name="Oval 23"/>
          <p:cNvSpPr/>
          <p:nvPr/>
        </p:nvSpPr>
        <p:spPr>
          <a:xfrm>
            <a:off x="6903720" y="2344293"/>
            <a:ext cx="91440" cy="91440"/>
          </a:xfrm>
          <a:prstGeom prst="ellipse">
            <a:avLst/>
          </a:prstGeom>
          <a:solidFill>
            <a:srgbClr val="FF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9168" y="2307716"/>
            <a:ext cx="230428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3B8"/>
                </a:solidFill>
                <a:latin typeface="Helvetica Neue"/>
              </a:rPr>
              <a:t>1 — The Shift</a:t>
            </a:r>
          </a:p>
        </p:txBody>
      </p:sp>
      <p:pic>
        <p:nvPicPr>
          <p:cNvPr id="26" name="Picture 25" descr="s2_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5752" y="914400"/>
            <a:ext cx="2395728" cy="1347597"/>
          </a:xfrm>
          <a:prstGeom prst="rect">
            <a:avLst/>
          </a:prstGeom>
          <a:ln w="9525">
            <a:solidFill>
              <a:srgbClr val="262D40"/>
            </a:solidFill>
          </a:ln>
          <a:effectLst/>
        </p:spPr>
      </p:pic>
      <p:sp>
        <p:nvSpPr>
          <p:cNvPr id="27" name="Oval 26"/>
          <p:cNvSpPr/>
          <p:nvPr/>
        </p:nvSpPr>
        <p:spPr>
          <a:xfrm>
            <a:off x="9445752" y="2344293"/>
            <a:ext cx="91440" cy="91440"/>
          </a:xfrm>
          <a:prstGeom prst="ellipse">
            <a:avLst/>
          </a:prstGeom>
          <a:solidFill>
            <a:srgbClr val="E84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0" y="2307716"/>
            <a:ext cx="230428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3B8"/>
                </a:solidFill>
                <a:latin typeface="Helvetica Neue"/>
              </a:rPr>
              <a:t>2 — Playground</a:t>
            </a:r>
          </a:p>
        </p:txBody>
      </p:sp>
      <p:pic>
        <p:nvPicPr>
          <p:cNvPr id="29" name="Picture 28" descr="s3_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0" y="2646045"/>
            <a:ext cx="2395728" cy="1347597"/>
          </a:xfrm>
          <a:prstGeom prst="rect">
            <a:avLst/>
          </a:prstGeom>
          <a:ln w="9525">
            <a:solidFill>
              <a:srgbClr val="262D40"/>
            </a:solidFill>
          </a:ln>
          <a:effectLst/>
        </p:spPr>
      </p:pic>
      <p:sp>
        <p:nvSpPr>
          <p:cNvPr id="30" name="Oval 29"/>
          <p:cNvSpPr/>
          <p:nvPr/>
        </p:nvSpPr>
        <p:spPr>
          <a:xfrm>
            <a:off x="6903720" y="4075937"/>
            <a:ext cx="91440" cy="91440"/>
          </a:xfrm>
          <a:prstGeom prst="ellipse">
            <a:avLst/>
          </a:prstGeom>
          <a:solidFill>
            <a:srgbClr val="2EC5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59168" y="4039361"/>
            <a:ext cx="230428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3B8"/>
                </a:solidFill>
                <a:latin typeface="Helvetica Neue"/>
              </a:rPr>
              <a:t>3 — The Platform</a:t>
            </a:r>
          </a:p>
        </p:txBody>
      </p:sp>
      <p:pic>
        <p:nvPicPr>
          <p:cNvPr id="32" name="Picture 31" descr="s4_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5752" y="2646045"/>
            <a:ext cx="2395728" cy="1347597"/>
          </a:xfrm>
          <a:prstGeom prst="rect">
            <a:avLst/>
          </a:prstGeom>
          <a:ln w="9525">
            <a:solidFill>
              <a:srgbClr val="262D40"/>
            </a:solidFill>
          </a:ln>
          <a:effectLst/>
        </p:spPr>
      </p:pic>
      <p:sp>
        <p:nvSpPr>
          <p:cNvPr id="33" name="Oval 32"/>
          <p:cNvSpPr/>
          <p:nvPr/>
        </p:nvSpPr>
        <p:spPr>
          <a:xfrm>
            <a:off x="9445752" y="4075937"/>
            <a:ext cx="91440" cy="91440"/>
          </a:xfrm>
          <a:prstGeom prst="ellipse">
            <a:avLst/>
          </a:prstGeom>
          <a:solidFill>
            <a:srgbClr val="9B6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0" y="4039361"/>
            <a:ext cx="230428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3B8"/>
                </a:solidFill>
                <a:latin typeface="Helvetica Neue"/>
              </a:rPr>
              <a:t>4 — The Loop</a:t>
            </a:r>
          </a:p>
        </p:txBody>
      </p:sp>
      <p:pic>
        <p:nvPicPr>
          <p:cNvPr id="35" name="Picture 34" descr="lp_2_wid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3720" y="4441698"/>
            <a:ext cx="4937760" cy="2055459"/>
          </a:xfrm>
          <a:prstGeom prst="rect">
            <a:avLst/>
          </a:prstGeom>
          <a:ln w="9525">
            <a:solidFill>
              <a:srgbClr val="262D40"/>
            </a:solidFill>
          </a:ln>
          <a:effectLst/>
        </p:spPr>
      </p:pic>
      <p:sp>
        <p:nvSpPr>
          <p:cNvPr id="36" name="Rectangle 35"/>
          <p:cNvSpPr/>
          <p:nvPr/>
        </p:nvSpPr>
        <p:spPr>
          <a:xfrm>
            <a:off x="502920" y="6510528"/>
            <a:ext cx="11183112" cy="10160"/>
          </a:xfrm>
          <a:prstGeom prst="rect">
            <a:avLst/>
          </a:prstGeom>
          <a:solidFill>
            <a:srgbClr val="26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7488"/>
                </a:solidFill>
                <a:latin typeface="Helvetica Neue"/>
              </a:rPr>
              <a:t>Mind Palace  ·  Semiha Paksoy  ·  MUS 442 Senior Project II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6583680"/>
            <a:ext cx="39136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39E1EE"/>
                </a:solidFill>
                <a:latin typeface="Helvetica Neue"/>
              </a:rPr>
              <a:t>semihapaksoy.com</a:t>
            </a:r>
            <a:r>
              <a:rPr sz="1000" b="0" i="0">
                <a:solidFill>
                  <a:srgbClr val="6B7488"/>
                </a:solidFill>
                <a:latin typeface="Helvetica Neue"/>
              </a:rPr>
              <a:t>   · 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9E1EE"/>
                </a:solidFill>
                <a:latin typeface="Helvetica Neue"/>
              </a:rPr>
              <a:t>02</a:t>
            </a:r>
            <a:r>
              <a:rPr sz="1250" b="0" i="0">
                <a:solidFill>
                  <a:srgbClr val="6B7488"/>
                </a:solidFill>
                <a:latin typeface="Helvetica Neue"/>
              </a:rPr>
              <a:t>  ·  </a:t>
            </a:r>
            <a:r>
              <a:rPr sz="1250" b="1" i="0" spc="220">
                <a:solidFill>
                  <a:srgbClr val="39E1EE"/>
                </a:solidFill>
                <a:latin typeface="Helvetica Neue"/>
              </a:rPr>
              <a:t>SUBMISSION FRAME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83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500" b="1" i="0">
                <a:solidFill>
                  <a:srgbClr val="EEF1F8"/>
                </a:solidFill>
                <a:latin typeface="Helvetica Neue"/>
              </a:rPr>
              <a:t>Video can document the work, but the project has to be experienced.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27632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141823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4846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EF1F8"/>
                </a:solidFill>
                <a:latin typeface="Helvetica Neue"/>
              </a:rPr>
              <a:t>Bilgi Learn submission note: a screen recording can show representative moments, but Mind Palace is designed around first-person embodiment, headset scale, hand action, and spatial audio.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218688"/>
            <a:ext cx="5394960" cy="868680"/>
          </a:xfrm>
          <a:prstGeom prst="roundRect">
            <a:avLst>
              <a:gd name="adj" fmla="val 8000"/>
            </a:avLst>
          </a:prstGeom>
          <a:solidFill>
            <a:srgbClr val="191E2C"/>
          </a:solidFill>
          <a:ln w="9525">
            <a:solidFill>
              <a:srgbClr val="39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419856"/>
            <a:ext cx="4846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EEF1F8"/>
                </a:solidFill>
                <a:latin typeface="Helvetica Neue"/>
              </a:rPr>
              <a:t>The assessment object is not only an exported video; </a:t>
            </a:r>
            <a:r>
              <a:rPr sz="1400" b="1" i="0">
                <a:solidFill>
                  <a:srgbClr val="39E1EE"/>
                </a:solidFill>
                <a:latin typeface="Helvetica Neue"/>
              </a:rPr>
              <a:t>it is the performed VR experience.</a:t>
            </a:r>
          </a:p>
        </p:txBody>
      </p:sp>
      <p:pic>
        <p:nvPicPr>
          <p:cNvPr id="8" name="Picture 7" descr="int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315968"/>
            <a:ext cx="3246120" cy="1825942"/>
          </a:xfrm>
          <a:prstGeom prst="rect">
            <a:avLst/>
          </a:prstGeom>
          <a:ln w="9525">
            <a:solidFill>
              <a:srgbClr val="262D40"/>
            </a:solidFill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502920" y="620591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AA3B8"/>
                </a:solidFill>
                <a:latin typeface="Helvetica Neue"/>
              </a:rPr>
              <a:t>Street performance en route to the metro</a:t>
            </a:r>
          </a:p>
        </p:txBody>
      </p:sp>
      <p:pic>
        <p:nvPicPr>
          <p:cNvPr id="10" name="Picture 9" descr="s4_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4315968"/>
            <a:ext cx="3246120" cy="1825942"/>
          </a:xfrm>
          <a:prstGeom prst="rect">
            <a:avLst/>
          </a:prstGeom>
          <a:ln w="9525">
            <a:solidFill>
              <a:srgbClr val="262D40"/>
            </a:solidFill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3931920" y="620591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AA3B8"/>
                </a:solidFill>
                <a:latin typeface="Helvetica Neue"/>
              </a:rPr>
              <a:t>The radial sequencer in play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1627632"/>
            <a:ext cx="2084831" cy="2121408"/>
          </a:xfrm>
          <a:prstGeom prst="roundRect">
            <a:avLst>
              <a:gd name="adj" fmla="val 8000"/>
            </a:avLst>
          </a:prstGeom>
          <a:solidFill>
            <a:srgbClr val="141823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08392" y="1920240"/>
            <a:ext cx="502920" cy="64008"/>
          </a:xfrm>
          <a:prstGeom prst="roundRect">
            <a:avLst>
              <a:gd name="adj" fmla="val 50000"/>
            </a:avLst>
          </a:prstGeom>
          <a:solidFill>
            <a:srgbClr val="6B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10312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6B7488"/>
                </a:solidFill>
                <a:latin typeface="Helvetica Neue"/>
              </a:rPr>
              <a:t>watch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2651760"/>
            <a:ext cx="162763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9AA3B8"/>
                </a:solidFill>
                <a:latin typeface="Helvetica Neue"/>
              </a:rPr>
              <a:t>video evidence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65208" y="1627632"/>
            <a:ext cx="2084831" cy="2121408"/>
          </a:xfrm>
          <a:prstGeom prst="roundRect">
            <a:avLst>
              <a:gd name="adj" fmla="val 8000"/>
            </a:avLst>
          </a:prstGeom>
          <a:solidFill>
            <a:srgbClr val="141823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21240" y="1920240"/>
            <a:ext cx="502920" cy="64008"/>
          </a:xfrm>
          <a:prstGeom prst="roundRect">
            <a:avLst>
              <a:gd name="adj" fmla="val 50000"/>
            </a:avLst>
          </a:prstGeom>
          <a:solidFill>
            <a:srgbClr val="39E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21240" y="210312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39E1EE"/>
                </a:solidFill>
                <a:latin typeface="Helvetica Neue"/>
              </a:rPr>
              <a:t>wear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51760"/>
            <a:ext cx="162763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9AA3B8"/>
                </a:solidFill>
                <a:latin typeface="Helvetica Neue"/>
              </a:rPr>
              <a:t>headset presence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3913632"/>
            <a:ext cx="2084831" cy="2121408"/>
          </a:xfrm>
          <a:prstGeom prst="roundRect">
            <a:avLst>
              <a:gd name="adj" fmla="val 8000"/>
            </a:avLst>
          </a:prstGeom>
          <a:solidFill>
            <a:srgbClr val="141823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08392" y="4206240"/>
            <a:ext cx="502920" cy="64008"/>
          </a:xfrm>
          <a:prstGeom prst="roundRect">
            <a:avLst>
              <a:gd name="adj" fmla="val 50000"/>
            </a:avLst>
          </a:prstGeom>
          <a:solidFill>
            <a:srgbClr val="E84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08392" y="438912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E84CE7"/>
                </a:solidFill>
                <a:latin typeface="Helvetica Neue"/>
              </a:rPr>
              <a:t>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8392" y="4937760"/>
            <a:ext cx="162763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9AA3B8"/>
                </a:solidFill>
                <a:latin typeface="Helvetica Neue"/>
              </a:rPr>
              <a:t>sorting, throwing, cleaning, composing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65208" y="3913632"/>
            <a:ext cx="2084831" cy="2121408"/>
          </a:xfrm>
          <a:prstGeom prst="roundRect">
            <a:avLst>
              <a:gd name="adj" fmla="val 8000"/>
            </a:avLst>
          </a:prstGeom>
          <a:solidFill>
            <a:srgbClr val="141823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921240" y="4206240"/>
            <a:ext cx="502920" cy="64008"/>
          </a:xfrm>
          <a:prstGeom prst="roundRect">
            <a:avLst>
              <a:gd name="adj" fmla="val 50000"/>
            </a:avLst>
          </a:prstGeom>
          <a:solidFill>
            <a:srgbClr val="FF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21240" y="438912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5A4E"/>
                </a:solidFill>
                <a:latin typeface="Helvetica Neue"/>
              </a:rPr>
              <a:t>feel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4937760"/>
            <a:ext cx="162763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9AA3B8"/>
                </a:solidFill>
                <a:latin typeface="Helvetica Neue"/>
              </a:rPr>
              <a:t>the loop become personal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605332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B7488"/>
                </a:solidFill>
                <a:latin typeface="Helvetica Neue"/>
              </a:rPr>
              <a:t>watch  →  wear  →  act  →  feel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6510528"/>
            <a:ext cx="11183112" cy="10160"/>
          </a:xfrm>
          <a:prstGeom prst="rect">
            <a:avLst/>
          </a:prstGeom>
          <a:solidFill>
            <a:srgbClr val="26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7488"/>
                </a:solidFill>
                <a:latin typeface="Helvetica Neue"/>
              </a:rPr>
              <a:t>Mind Palace  ·  Semiha Paksoy  ·  MUS 442 Senior Project 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6583680"/>
            <a:ext cx="39136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39E1EE"/>
                </a:solidFill>
                <a:latin typeface="Helvetica Neue"/>
              </a:rPr>
              <a:t>semihapaksoy.com</a:t>
            </a:r>
            <a:r>
              <a:rPr sz="1000" b="0" i="0">
                <a:solidFill>
                  <a:srgbClr val="6B7488"/>
                </a:solidFill>
                <a:latin typeface="Helvetica Neue"/>
              </a:rPr>
              <a:t>   ·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D02E"/>
                </a:solidFill>
                <a:latin typeface="Helvetica Neue"/>
              </a:rPr>
              <a:t>03</a:t>
            </a:r>
            <a:r>
              <a:rPr sz="1250" b="0" i="0">
                <a:solidFill>
                  <a:srgbClr val="6B7488"/>
                </a:solidFill>
                <a:latin typeface="Helvetica Neue"/>
              </a:rPr>
              <a:t>  ·  </a:t>
            </a:r>
            <a:r>
              <a:rPr sz="1250" b="1" i="0" spc="220">
                <a:solidFill>
                  <a:srgbClr val="FFD02E"/>
                </a:solidFill>
                <a:latin typeface="Helvetica Neue"/>
              </a:rPr>
              <a:t>CENTRAL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83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1" i="0">
                <a:solidFill>
                  <a:srgbClr val="EEF1F8"/>
                </a:solidFill>
                <a:latin typeface="Helvetica Neue"/>
              </a:rPr>
              <a:t>Everyday repetition makes daydreaming necessary.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577840" cy="1600200"/>
          </a:xfrm>
          <a:prstGeom prst="roundRect">
            <a:avLst>
              <a:gd name="adj" fmla="val 8000"/>
            </a:avLst>
          </a:prstGeom>
          <a:solidFill>
            <a:srgbClr val="141823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38528"/>
            <a:ext cx="50292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1" i="0">
                <a:solidFill>
                  <a:srgbClr val="EEF1F8"/>
                </a:solidFill>
                <a:latin typeface="Helvetica Neue"/>
              </a:rPr>
              <a:t>The mundane, everyday, quotidian work-leisure cycle becomes the pressure that pushes the player toward maladaptive daydreaming.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456432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141823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657600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9AA3B8"/>
                </a:solidFill>
                <a:latin typeface="Helvetica Neue"/>
              </a:rPr>
              <a:t>The fantasy is real relief, but it gradually inherits the same rhythms: chores, transit, spectacle, repetition, clock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120640"/>
            <a:ext cx="5577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FD02E"/>
                </a:solidFill>
                <a:latin typeface="Helvetica Neue"/>
              </a:rPr>
              <a:t>This loop is the antagonist. </a:t>
            </a:r>
            <a:r>
              <a:rPr sz="1250" b="0" i="0">
                <a:solidFill>
                  <a:srgbClr val="9AA3B8"/>
                </a:solidFill>
                <a:latin typeface="Helvetica Neue"/>
              </a:rPr>
              <a:t>Mind Palace lets the player live one full revolution of it — first in the world, then inside their own daydream.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098280" y="2167128"/>
            <a:ext cx="1547970" cy="1124666"/>
          </a:xfrm>
          <a:prstGeom prst="bentConnector3">
            <a:avLst/>
          </a:prstGeom>
          <a:ln w="20320">
            <a:solidFill>
              <a:srgbClr val="262D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10054978" y="3291794"/>
            <a:ext cx="591272" cy="1819747"/>
          </a:xfrm>
          <a:prstGeom prst="bentConnector3">
            <a:avLst/>
          </a:prstGeom>
          <a:ln w="20320">
            <a:solidFill>
              <a:srgbClr val="262D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8141581" y="5111541"/>
            <a:ext cx="1913397" cy="0"/>
          </a:xfrm>
          <a:prstGeom prst="bentConnector3">
            <a:avLst/>
          </a:prstGeom>
          <a:ln w="20320">
            <a:solidFill>
              <a:srgbClr val="262D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7550309" y="3291794"/>
            <a:ext cx="591272" cy="1819747"/>
          </a:xfrm>
          <a:prstGeom prst="bentConnector3">
            <a:avLst/>
          </a:prstGeom>
          <a:ln w="20320">
            <a:solidFill>
              <a:srgbClr val="262D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550309" y="2167128"/>
            <a:ext cx="1547971" cy="1124666"/>
          </a:xfrm>
          <a:prstGeom prst="bentConnector3">
            <a:avLst/>
          </a:prstGeom>
          <a:ln w="20320">
            <a:solidFill>
              <a:srgbClr val="262D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8558784" y="1627632"/>
            <a:ext cx="1078992" cy="1078992"/>
          </a:xfrm>
          <a:prstGeom prst="ellipse">
            <a:avLst/>
          </a:prstGeom>
          <a:solidFill>
            <a:srgbClr val="191E2C"/>
          </a:solidFill>
          <a:ln w="22225">
            <a:solidFill>
              <a:srgbClr val="FFD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 i="0">
                <a:solidFill>
                  <a:srgbClr val="FFD02E"/>
                </a:solidFill>
                <a:latin typeface="Helvetica Neue"/>
              </a:rPr>
              <a:t>work</a:t>
            </a:r>
          </a:p>
        </p:txBody>
      </p:sp>
      <p:sp>
        <p:nvSpPr>
          <p:cNvPr id="15" name="Oval 14"/>
          <p:cNvSpPr/>
          <p:nvPr/>
        </p:nvSpPr>
        <p:spPr>
          <a:xfrm>
            <a:off x="10106754" y="2752298"/>
            <a:ext cx="1078992" cy="1078992"/>
          </a:xfrm>
          <a:prstGeom prst="ellipse">
            <a:avLst/>
          </a:prstGeom>
          <a:solidFill>
            <a:srgbClr val="191E2C"/>
          </a:solidFill>
          <a:ln w="22225">
            <a:solidFill>
              <a:srgbClr val="2EC5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 i="0">
                <a:solidFill>
                  <a:srgbClr val="2EC5D3"/>
                </a:solidFill>
                <a:latin typeface="Helvetica Neue"/>
              </a:rPr>
              <a:t>commute</a:t>
            </a:r>
          </a:p>
        </p:txBody>
      </p:sp>
      <p:sp>
        <p:nvSpPr>
          <p:cNvPr id="16" name="Oval 15"/>
          <p:cNvSpPr/>
          <p:nvPr/>
        </p:nvSpPr>
        <p:spPr>
          <a:xfrm>
            <a:off x="9515482" y="4572045"/>
            <a:ext cx="1078992" cy="1078992"/>
          </a:xfrm>
          <a:prstGeom prst="ellipse">
            <a:avLst/>
          </a:prstGeom>
          <a:solidFill>
            <a:srgbClr val="191E2C"/>
          </a:solidFill>
          <a:ln w="22225">
            <a:solidFill>
              <a:srgbClr val="39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 i="0">
                <a:solidFill>
                  <a:srgbClr val="39E1EE"/>
                </a:solidFill>
                <a:latin typeface="Helvetica Neue"/>
              </a:rPr>
              <a:t>recover</a:t>
            </a:r>
          </a:p>
        </p:txBody>
      </p:sp>
      <p:sp>
        <p:nvSpPr>
          <p:cNvPr id="17" name="Oval 16"/>
          <p:cNvSpPr/>
          <p:nvPr/>
        </p:nvSpPr>
        <p:spPr>
          <a:xfrm>
            <a:off x="7602085" y="4572045"/>
            <a:ext cx="1078992" cy="1078992"/>
          </a:xfrm>
          <a:prstGeom prst="ellipse">
            <a:avLst/>
          </a:prstGeom>
          <a:solidFill>
            <a:srgbClr val="191E2C"/>
          </a:solidFill>
          <a:ln w="22225">
            <a:solidFill>
              <a:srgbClr val="E84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 i="0">
                <a:solidFill>
                  <a:srgbClr val="E84CE7"/>
                </a:solidFill>
                <a:latin typeface="Helvetica Neue"/>
              </a:rPr>
              <a:t>consume</a:t>
            </a:r>
          </a:p>
        </p:txBody>
      </p:sp>
      <p:sp>
        <p:nvSpPr>
          <p:cNvPr id="18" name="Oval 17"/>
          <p:cNvSpPr/>
          <p:nvPr/>
        </p:nvSpPr>
        <p:spPr>
          <a:xfrm>
            <a:off x="7010813" y="2752298"/>
            <a:ext cx="1078992" cy="1078992"/>
          </a:xfrm>
          <a:prstGeom prst="ellipse">
            <a:avLst/>
          </a:prstGeom>
          <a:solidFill>
            <a:srgbClr val="191E2C"/>
          </a:solidFill>
          <a:ln w="22225">
            <a:solidFill>
              <a:srgbClr val="FF5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 i="0">
                <a:solidFill>
                  <a:srgbClr val="FF5A4E"/>
                </a:solidFill>
                <a:latin typeface="Helvetica Neue"/>
              </a:rPr>
              <a:t>return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356616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B7488"/>
                </a:solidFill>
                <a:latin typeface="Helvetica Neue"/>
              </a:rPr>
              <a:t>the daily
cycle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510528"/>
            <a:ext cx="11183112" cy="10160"/>
          </a:xfrm>
          <a:prstGeom prst="rect">
            <a:avLst/>
          </a:prstGeom>
          <a:solidFill>
            <a:srgbClr val="26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7488"/>
                </a:solidFill>
                <a:latin typeface="Helvetica Neue"/>
              </a:rPr>
              <a:t>Mind Palace  ·  Semiha Paksoy  ·  MUS 442 Senior Project II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6583680"/>
            <a:ext cx="39136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39E1EE"/>
                </a:solidFill>
                <a:latin typeface="Helvetica Neue"/>
              </a:rPr>
              <a:t>semihapaksoy.com</a:t>
            </a:r>
            <a:r>
              <a:rPr sz="1000" b="0" i="0">
                <a:solidFill>
                  <a:srgbClr val="6B7488"/>
                </a:solidFill>
                <a:latin typeface="Helvetica Neue"/>
              </a:rPr>
              <a:t>   ·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4CE7"/>
                </a:solidFill>
                <a:latin typeface="Helvetica Neue"/>
              </a:rPr>
              <a:t>04</a:t>
            </a:r>
            <a:r>
              <a:rPr sz="1250" b="0" i="0">
                <a:solidFill>
                  <a:srgbClr val="6B7488"/>
                </a:solidFill>
                <a:latin typeface="Helvetica Neue"/>
              </a:rPr>
              <a:t>  ·  </a:t>
            </a:r>
            <a:r>
              <a:rPr sz="1250" b="1" i="0" spc="220">
                <a:solidFill>
                  <a:srgbClr val="E84CE7"/>
                </a:solidFill>
                <a:latin typeface="Helvetica Neue"/>
              </a:rPr>
              <a:t>NARRATIVE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83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1" i="0">
                <a:solidFill>
                  <a:srgbClr val="EEF1F8"/>
                </a:solidFill>
                <a:latin typeface="Helvetica Neue"/>
              </a:rPr>
              <a:t>One repeated gesture changes meaning four times.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2615184" cy="3520440"/>
          </a:xfrm>
          <a:prstGeom prst="roundRect">
            <a:avLst>
              <a:gd name="adj" fmla="val 8000"/>
            </a:avLst>
          </a:prstGeom>
          <a:solidFill>
            <a:srgbClr val="141823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1_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1792224"/>
            <a:ext cx="2322576" cy="1306449"/>
          </a:xfrm>
          <a:prstGeom prst="rect">
            <a:avLst/>
          </a:prstGeom>
          <a:ln w="9525">
            <a:solidFill>
              <a:srgbClr val="262D40"/>
            </a:solidFill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649224" y="3218688"/>
            <a:ext cx="232257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B7488"/>
                </a:solidFill>
                <a:latin typeface="Helvetica Neue"/>
              </a:rPr>
              <a:t>Scene 1 — The Shift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3529584"/>
            <a:ext cx="23225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5A4E"/>
                </a:solidFill>
                <a:latin typeface="Helvetica Neue"/>
              </a:rPr>
              <a:t>sort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133087"/>
            <a:ext cx="23225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EF1F8"/>
                </a:solidFill>
                <a:latin typeface="Helvetica Neue"/>
              </a:rPr>
              <a:t>obedience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" y="4681728"/>
            <a:ext cx="502920" cy="64008"/>
          </a:xfrm>
          <a:prstGeom prst="roundRect">
            <a:avLst>
              <a:gd name="adj" fmla="val 50000"/>
            </a:avLst>
          </a:prstGeom>
          <a:solidFill>
            <a:srgbClr val="FF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64991" y="1645920"/>
            <a:ext cx="2615184" cy="3520440"/>
          </a:xfrm>
          <a:prstGeom prst="roundRect">
            <a:avLst>
              <a:gd name="adj" fmla="val 8000"/>
            </a:avLst>
          </a:prstGeom>
          <a:solidFill>
            <a:srgbClr val="141823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2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296" y="1792224"/>
            <a:ext cx="2322576" cy="1306449"/>
          </a:xfrm>
          <a:prstGeom prst="rect">
            <a:avLst/>
          </a:prstGeom>
          <a:ln w="9525">
            <a:solidFill>
              <a:srgbClr val="262D40"/>
            </a:solidFill>
          </a:ln>
          <a:effectLst/>
        </p:spPr>
      </p:pic>
      <p:sp>
        <p:nvSpPr>
          <p:cNvPr id="12" name="TextBox 11"/>
          <p:cNvSpPr txBox="1"/>
          <p:nvPr/>
        </p:nvSpPr>
        <p:spPr>
          <a:xfrm>
            <a:off x="3511296" y="3218688"/>
            <a:ext cx="232257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B7488"/>
                </a:solidFill>
                <a:latin typeface="Helvetica Neue"/>
              </a:rPr>
              <a:t>Scene 2 — Playground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1296" y="3529584"/>
            <a:ext cx="23225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84CE7"/>
                </a:solidFill>
                <a:latin typeface="Helvetica Neue"/>
              </a:rPr>
              <a:t>throw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11296" y="4133087"/>
            <a:ext cx="23225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EF1F8"/>
                </a:solidFill>
                <a:latin typeface="Helvetica Neue"/>
              </a:rPr>
              <a:t>release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11296" y="4681728"/>
            <a:ext cx="502920" cy="64008"/>
          </a:xfrm>
          <a:prstGeom prst="roundRect">
            <a:avLst>
              <a:gd name="adj" fmla="val 50000"/>
            </a:avLst>
          </a:prstGeom>
          <a:solidFill>
            <a:srgbClr val="E84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27064" y="1645920"/>
            <a:ext cx="2615184" cy="3520440"/>
          </a:xfrm>
          <a:prstGeom prst="roundRect">
            <a:avLst>
              <a:gd name="adj" fmla="val 8000"/>
            </a:avLst>
          </a:prstGeom>
          <a:solidFill>
            <a:srgbClr val="141823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3_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1792224"/>
            <a:ext cx="2322576" cy="1306449"/>
          </a:xfrm>
          <a:prstGeom prst="rect">
            <a:avLst/>
          </a:prstGeom>
          <a:ln w="9525">
            <a:solidFill>
              <a:srgbClr val="262D40"/>
            </a:solidFill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6373368" y="3218688"/>
            <a:ext cx="232257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B7488"/>
                </a:solidFill>
                <a:latin typeface="Helvetica Neue"/>
              </a:rPr>
              <a:t>Scene 3 — The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3529584"/>
            <a:ext cx="23225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EC5D3"/>
                </a:solidFill>
                <a:latin typeface="Helvetica Neue"/>
              </a:rPr>
              <a:t>clean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4133087"/>
            <a:ext cx="23225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EF1F8"/>
                </a:solidFill>
                <a:latin typeface="Helvetica Neue"/>
              </a:rPr>
              <a:t>compulsory work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73368" y="4681728"/>
            <a:ext cx="502920" cy="64008"/>
          </a:xfrm>
          <a:prstGeom prst="roundRect">
            <a:avLst>
              <a:gd name="adj" fmla="val 50000"/>
            </a:avLst>
          </a:prstGeom>
          <a:solidFill>
            <a:srgbClr val="2EC5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89136" y="1645920"/>
            <a:ext cx="2615184" cy="3520440"/>
          </a:xfrm>
          <a:prstGeom prst="roundRect">
            <a:avLst>
              <a:gd name="adj" fmla="val 8000"/>
            </a:avLst>
          </a:prstGeom>
          <a:solidFill>
            <a:srgbClr val="141823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4_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0" y="1792224"/>
            <a:ext cx="2322576" cy="1306449"/>
          </a:xfrm>
          <a:prstGeom prst="rect">
            <a:avLst/>
          </a:prstGeom>
          <a:ln w="9525">
            <a:solidFill>
              <a:srgbClr val="262D40"/>
            </a:solidFill>
          </a:ln>
          <a:effectLst/>
        </p:spPr>
      </p:pic>
      <p:sp>
        <p:nvSpPr>
          <p:cNvPr id="24" name="TextBox 23"/>
          <p:cNvSpPr txBox="1"/>
          <p:nvPr/>
        </p:nvSpPr>
        <p:spPr>
          <a:xfrm>
            <a:off x="9235440" y="3218688"/>
            <a:ext cx="232257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B7488"/>
                </a:solidFill>
                <a:latin typeface="Helvetica Neue"/>
              </a:rPr>
              <a:t>Scene 4 — The Loop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3529584"/>
            <a:ext cx="23225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9B6DFF"/>
                </a:solidFill>
                <a:latin typeface="Helvetica Neue"/>
              </a:rPr>
              <a:t>compose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4133087"/>
            <a:ext cx="23225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EF1F8"/>
                </a:solidFill>
                <a:latin typeface="Helvetica Neue"/>
              </a:rPr>
              <a:t>capture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35440" y="4681728"/>
            <a:ext cx="502920" cy="64008"/>
          </a:xfrm>
          <a:prstGeom prst="roundRect">
            <a:avLst>
              <a:gd name="adj" fmla="val 50000"/>
            </a:avLst>
          </a:prstGeom>
          <a:solidFill>
            <a:srgbClr val="9B6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9816" y="3246120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6B7488"/>
                </a:solidFill>
                <a:latin typeface="Helvetica Neue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1888" y="3246120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6B7488"/>
                </a:solidFill>
                <a:latin typeface="Helvetica Neue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60" y="3246120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6B7488"/>
                </a:solidFill>
                <a:latin typeface="Helvetica Neue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440680"/>
            <a:ext cx="11183112" cy="777240"/>
          </a:xfrm>
          <a:prstGeom prst="roundRect">
            <a:avLst>
              <a:gd name="adj" fmla="val 8000"/>
            </a:avLst>
          </a:prstGeom>
          <a:solidFill>
            <a:srgbClr val="191E2C"/>
          </a:solidFill>
          <a:ln w="9525">
            <a:solidFill>
              <a:srgbClr val="9B6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650992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EF1F8"/>
                </a:solidFill>
                <a:latin typeface="Helvetica Neue"/>
              </a:rPr>
              <a:t>The ending is not a cutscene. </a:t>
            </a:r>
            <a:r>
              <a:rPr sz="1450" b="1" i="0">
                <a:solidFill>
                  <a:srgbClr val="9B6DFF"/>
                </a:solidFill>
                <a:latin typeface="Helvetica Neue"/>
              </a:rPr>
              <a:t>The player performs the loop that becomes the clock.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510528"/>
            <a:ext cx="11183112" cy="10160"/>
          </a:xfrm>
          <a:prstGeom prst="rect">
            <a:avLst/>
          </a:prstGeom>
          <a:solidFill>
            <a:srgbClr val="26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7488"/>
                </a:solidFill>
                <a:latin typeface="Helvetica Neue"/>
              </a:rPr>
              <a:t>Mind Palace  ·  Semiha Paksoy  ·  MUS 442 Senior Project II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6583680"/>
            <a:ext cx="39136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39E1EE"/>
                </a:solidFill>
                <a:latin typeface="Helvetica Neue"/>
              </a:rPr>
              <a:t>semihapaksoy.com</a:t>
            </a:r>
            <a:r>
              <a:rPr sz="1000" b="0" i="0">
                <a:solidFill>
                  <a:srgbClr val="6B7488"/>
                </a:solidFill>
                <a:latin typeface="Helvetica Neue"/>
              </a:rPr>
              <a:t>   ·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5A4E"/>
                </a:solidFill>
                <a:latin typeface="Helvetica Neue"/>
              </a:rPr>
              <a:t>05</a:t>
            </a:r>
            <a:r>
              <a:rPr sz="1250" b="0" i="0">
                <a:solidFill>
                  <a:srgbClr val="6B7488"/>
                </a:solidFill>
                <a:latin typeface="Helvetica Neue"/>
              </a:rPr>
              <a:t>  ·  </a:t>
            </a:r>
            <a:r>
              <a:rPr sz="1250" b="1" i="0" spc="220">
                <a:solidFill>
                  <a:srgbClr val="FF5A4E"/>
                </a:solidFill>
                <a:latin typeface="Helvetica Neue"/>
              </a:rPr>
              <a:t>SCENE 1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83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1" i="0">
                <a:solidFill>
                  <a:srgbClr val="EEF1F8"/>
                </a:solidFill>
                <a:latin typeface="Helvetica Neue"/>
              </a:rPr>
              <a:t>The Shift turns obedience into music.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9164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5A4E"/>
                </a:solidFill>
                <a:latin typeface="Helvetica Neue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167128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AA3B8"/>
                </a:solidFill>
                <a:latin typeface="Helvetica Neue"/>
              </a:rPr>
              <a:t>standard cubes before anomaly cubes appear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69164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5A4E"/>
                </a:solidFill>
                <a:latin typeface="Helvetica Neue"/>
              </a:rPr>
              <a:t>76 BPM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2167128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AA3B8"/>
                </a:solidFill>
                <a:latin typeface="Helvetica Neue"/>
              </a:rPr>
              <a:t>sample-accurate DSP grid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926080"/>
            <a:ext cx="475488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1" i="0">
                <a:solidFill>
                  <a:srgbClr val="9AA3B8"/>
                </a:solidFill>
                <a:latin typeface="Helvetica Neue"/>
              </a:rPr>
              <a:t>▸  </a:t>
            </a:r>
            <a:r>
              <a:rPr sz="1250" b="0" i="0">
                <a:solidFill>
                  <a:srgbClr val="EEF1F8"/>
                </a:solidFill>
                <a:latin typeface="Helvetica Neue"/>
              </a:rPr>
              <a:t>machine recordings sliced into ostinatos and tape loops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1" i="0">
                <a:solidFill>
                  <a:srgbClr val="9AA3B8"/>
                </a:solidFill>
                <a:latin typeface="Helvetica Neue"/>
              </a:rPr>
              <a:t>▸  </a:t>
            </a:r>
            <a:r>
              <a:rPr sz="1250" b="0" i="0">
                <a:solidFill>
                  <a:srgbClr val="EEF1F8"/>
                </a:solidFill>
                <a:latin typeface="Helvetica Neue"/>
              </a:rPr>
              <a:t>correct sorts play quantized pentatonic notes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1" i="0">
                <a:solidFill>
                  <a:srgbClr val="9AA3B8"/>
                </a:solidFill>
                <a:latin typeface="Helvetica Neue"/>
              </a:rPr>
              <a:t>▸  </a:t>
            </a:r>
            <a:r>
              <a:rPr sz="1250" b="0" i="0">
                <a:solidFill>
                  <a:srgbClr val="EEF1F8"/>
                </a:solidFill>
                <a:latin typeface="Helvetica Neue"/>
              </a:rPr>
              <a:t>green anomaly cube cannot be classified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1" i="0">
                <a:solidFill>
                  <a:srgbClr val="9AA3B8"/>
                </a:solidFill>
                <a:latin typeface="Helvetica Neue"/>
              </a:rPr>
              <a:t>▸  </a:t>
            </a:r>
            <a:r>
              <a:rPr sz="1250" b="0" i="0">
                <a:solidFill>
                  <a:srgbClr val="EEF1F8"/>
                </a:solidFill>
                <a:latin typeface="Helvetica Neue"/>
              </a:rPr>
              <a:t>second shift returns faster and slightly detuned</a:t>
            </a:r>
          </a:p>
        </p:txBody>
      </p:sp>
      <p:pic>
        <p:nvPicPr>
          <p:cNvPr id="9" name="Picture 8" descr="s1_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0"/>
            <a:ext cx="2395728" cy="1347597"/>
          </a:xfrm>
          <a:prstGeom prst="rect">
            <a:avLst/>
          </a:prstGeom>
          <a:ln w="9525">
            <a:solidFill>
              <a:srgbClr val="262D40"/>
            </a:solidFill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502920" y="5983605"/>
            <a:ext cx="2395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AA3B8"/>
                </a:solidFill>
                <a:latin typeface="Helvetica Neue"/>
              </a:rPr>
              <a:t>Sorting under the quota</a:t>
            </a:r>
          </a:p>
        </p:txBody>
      </p:sp>
      <p:pic>
        <p:nvPicPr>
          <p:cNvPr id="11" name="Picture 10" descr="s1_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4572000"/>
            <a:ext cx="2395728" cy="1347597"/>
          </a:xfrm>
          <a:prstGeom prst="rect">
            <a:avLst/>
          </a:prstGeom>
          <a:ln w="9525">
            <a:solidFill>
              <a:srgbClr val="262D40"/>
            </a:solidFill>
          </a:ln>
          <a:effectLst/>
        </p:spPr>
      </p:pic>
      <p:sp>
        <p:nvSpPr>
          <p:cNvPr id="12" name="TextBox 11"/>
          <p:cNvSpPr txBox="1"/>
          <p:nvPr/>
        </p:nvSpPr>
        <p:spPr>
          <a:xfrm>
            <a:off x="3035808" y="5983605"/>
            <a:ext cx="2395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AA3B8"/>
                </a:solidFill>
                <a:latin typeface="Helvetica Neue"/>
              </a:rPr>
              <a:t>The anomaly arrives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1691640"/>
            <a:ext cx="5833872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1095" y="1819656"/>
            <a:ext cx="5536000" cy="2532888"/>
          </a:xfrm>
          <a:prstGeom prst="rect">
            <a:avLst/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5852160" y="4544568"/>
            <a:ext cx="5833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B7488"/>
                </a:solidFill>
                <a:latin typeface="Helvetica Neue"/>
              </a:rPr>
              <a:t>Factory score — ostinato grid and incommensurate tape loops</a:t>
            </a:r>
          </a:p>
        </p:txBody>
      </p:sp>
      <p:pic>
        <p:nvPicPr>
          <p:cNvPr id="16" name="Picture 15" descr="s1_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4864608"/>
            <a:ext cx="2743200" cy="1543050"/>
          </a:xfrm>
          <a:prstGeom prst="rect">
            <a:avLst/>
          </a:prstGeom>
          <a:ln w="9525">
            <a:solidFill>
              <a:srgbClr val="262D40"/>
            </a:solidFill>
          </a:ln>
          <a:effectLst/>
        </p:spPr>
      </p:pic>
      <p:pic>
        <p:nvPicPr>
          <p:cNvPr id="17" name="Picture 16" descr="s1_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2520" y="4864608"/>
            <a:ext cx="2743200" cy="1543050"/>
          </a:xfrm>
          <a:prstGeom prst="rect">
            <a:avLst/>
          </a:prstGeom>
          <a:ln w="9525">
            <a:solidFill>
              <a:srgbClr val="262D40"/>
            </a:solidFill>
          </a:ln>
          <a:effectLst/>
        </p:spPr>
      </p:pic>
      <p:sp>
        <p:nvSpPr>
          <p:cNvPr id="18" name="Rectangle 17"/>
          <p:cNvSpPr/>
          <p:nvPr/>
        </p:nvSpPr>
        <p:spPr>
          <a:xfrm>
            <a:off x="502920" y="6510528"/>
            <a:ext cx="11183112" cy="10160"/>
          </a:xfrm>
          <a:prstGeom prst="rect">
            <a:avLst/>
          </a:prstGeom>
          <a:solidFill>
            <a:srgbClr val="26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7488"/>
                </a:solidFill>
                <a:latin typeface="Helvetica Neue"/>
              </a:rPr>
              <a:t>Mind Palace  ·  Semiha Paksoy  ·  MUS 442 Senior Project II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583680"/>
            <a:ext cx="39136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39E1EE"/>
                </a:solidFill>
                <a:latin typeface="Helvetica Neue"/>
              </a:rPr>
              <a:t>semihapaksoy.com</a:t>
            </a:r>
            <a:r>
              <a:rPr sz="1000" b="0" i="0">
                <a:solidFill>
                  <a:srgbClr val="6B7488"/>
                </a:solidFill>
                <a:latin typeface="Helvetica Neue"/>
              </a:rPr>
              <a:t>   ·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4CE7"/>
                </a:solidFill>
                <a:latin typeface="Helvetica Neue"/>
              </a:rPr>
              <a:t>06</a:t>
            </a:r>
            <a:r>
              <a:rPr sz="1250" b="0" i="0">
                <a:solidFill>
                  <a:srgbClr val="6B7488"/>
                </a:solidFill>
                <a:latin typeface="Helvetica Neue"/>
              </a:rPr>
              <a:t>  ·  </a:t>
            </a:r>
            <a:r>
              <a:rPr sz="1250" b="1" i="0" spc="220">
                <a:solidFill>
                  <a:srgbClr val="E84CE7"/>
                </a:solidFill>
                <a:latin typeface="Helvetica Neue"/>
              </a:rPr>
              <a:t>SCENE 2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83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1" i="0">
                <a:solidFill>
                  <a:srgbClr val="EEF1F8"/>
                </a:solidFill>
                <a:latin typeface="Helvetica Neue"/>
              </a:rPr>
              <a:t>Color removes the quota, then repetition breaks the room.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37360"/>
            <a:ext cx="713232" cy="713232"/>
          </a:xfrm>
          <a:prstGeom prst="roundRect">
            <a:avLst>
              <a:gd name="adj" fmla="val 18000"/>
            </a:avLst>
          </a:prstGeom>
          <a:solidFill>
            <a:srgbClr val="E04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05456"/>
            <a:ext cx="7132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9AA3B8"/>
                </a:solidFill>
                <a:latin typeface="Helvetica Neue"/>
              </a:rPr>
              <a:t>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72184" y="1737360"/>
            <a:ext cx="713232" cy="713232"/>
          </a:xfrm>
          <a:prstGeom prst="roundRect">
            <a:avLst>
              <a:gd name="adj" fmla="val 18000"/>
            </a:avLst>
          </a:prstGeom>
          <a:solidFill>
            <a:srgbClr val="3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72184" y="2505456"/>
            <a:ext cx="7132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9AA3B8"/>
                </a:solidFill>
                <a:latin typeface="Helvetica Neue"/>
              </a:rPr>
              <a:t>blue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41448" y="1737360"/>
            <a:ext cx="713232" cy="713232"/>
          </a:xfrm>
          <a:prstGeom prst="roundRect">
            <a:avLst>
              <a:gd name="adj" fmla="val 18000"/>
            </a:avLst>
          </a:prstGeom>
          <a:solidFill>
            <a:srgbClr val="3FA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41448" y="2505456"/>
            <a:ext cx="7132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9AA3B8"/>
                </a:solidFill>
                <a:latin typeface="Helvetica Neue"/>
              </a:rPr>
              <a:t>green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0712" y="1737360"/>
            <a:ext cx="713232" cy="713232"/>
          </a:xfrm>
          <a:prstGeom prst="roundRect">
            <a:avLst>
              <a:gd name="adj" fmla="val 18000"/>
            </a:avLst>
          </a:prstGeom>
          <a:solidFill>
            <a:srgbClr val="E8C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0712" y="2505456"/>
            <a:ext cx="7132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9AA3B8"/>
                </a:solidFill>
                <a:latin typeface="Helvetica Neue"/>
              </a:rPr>
              <a:t>yellow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737360"/>
            <a:ext cx="713232" cy="713232"/>
          </a:xfrm>
          <a:prstGeom prst="roundRect">
            <a:avLst>
              <a:gd name="adj" fmla="val 18000"/>
            </a:avLst>
          </a:prstGeom>
          <a:solidFill>
            <a:srgbClr val="8E5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6" y="2505456"/>
            <a:ext cx="7132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9AA3B8"/>
                </a:solidFill>
                <a:latin typeface="Helvetica Neue"/>
              </a:rPr>
              <a:t>purple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017520"/>
            <a:ext cx="4754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A3B8"/>
                </a:solidFill>
                <a:latin typeface="Helvetica Neue"/>
              </a:rPr>
              <a:t>each color carries its own synth voice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52044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84CE7"/>
                </a:solidFill>
                <a:latin typeface="Helvetica Neue"/>
              </a:rPr>
              <a:t>20 wall hits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995928"/>
            <a:ext cx="411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AA3B8"/>
                </a:solidFill>
                <a:latin typeface="Helvetica Neue"/>
              </a:rPr>
              <a:t>the playful action becomes a progression system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77840" y="1691640"/>
            <a:ext cx="6108192" cy="1325880"/>
          </a:xfrm>
          <a:prstGeom prst="roundRect">
            <a:avLst>
              <a:gd name="adj" fmla="val 8000"/>
            </a:avLst>
          </a:prstGeom>
          <a:solidFill>
            <a:srgbClr val="141823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0" y="1874519"/>
            <a:ext cx="55778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EEF1F8"/>
                </a:solidFill>
                <a:latin typeface="Helvetica Neue"/>
              </a:rPr>
              <a:t>Current report correction: the room collapse is visual. The current build does not feature a prominent destruction sound, and the writeup no longer claims one.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3127248"/>
            <a:ext cx="6108192" cy="960120"/>
          </a:xfrm>
          <a:prstGeom prst="roundRect">
            <a:avLst>
              <a:gd name="adj" fmla="val 8000"/>
            </a:avLst>
          </a:prstGeom>
          <a:solidFill>
            <a:srgbClr val="141823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3291840"/>
            <a:ext cx="5577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9AA3B8"/>
                </a:solidFill>
                <a:latin typeface="Helvetica Neue"/>
              </a:rPr>
              <a:t>The post-collapse transition opens into city rumble and street ambience, without describing passing traffic.</a:t>
            </a:r>
          </a:p>
        </p:txBody>
      </p:sp>
      <p:pic>
        <p:nvPicPr>
          <p:cNvPr id="21" name="Picture 20" descr="s2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617720"/>
            <a:ext cx="2670048" cy="1501902"/>
          </a:xfrm>
          <a:prstGeom prst="rect">
            <a:avLst/>
          </a:prstGeom>
          <a:ln w="9525">
            <a:solidFill>
              <a:srgbClr val="262D40"/>
            </a:solidFill>
          </a:ln>
          <a:effectLst/>
        </p:spPr>
      </p:pic>
      <p:sp>
        <p:nvSpPr>
          <p:cNvPr id="22" name="TextBox 21"/>
          <p:cNvSpPr txBox="1"/>
          <p:nvPr/>
        </p:nvSpPr>
        <p:spPr>
          <a:xfrm>
            <a:off x="502920" y="6183630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AA3B8"/>
                </a:solidFill>
                <a:latin typeface="Helvetica Neue"/>
              </a:rPr>
              <a:t>Twenty cubes in the dark</a:t>
            </a:r>
          </a:p>
        </p:txBody>
      </p:sp>
      <p:pic>
        <p:nvPicPr>
          <p:cNvPr id="23" name="Picture 22" descr="s2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1" y="4617720"/>
            <a:ext cx="2670048" cy="1501902"/>
          </a:xfrm>
          <a:prstGeom prst="rect">
            <a:avLst/>
          </a:prstGeom>
          <a:ln w="9525">
            <a:solidFill>
              <a:srgbClr val="262D40"/>
            </a:solidFill>
          </a:ln>
          <a:effectLst/>
        </p:spPr>
      </p:pic>
      <p:sp>
        <p:nvSpPr>
          <p:cNvPr id="24" name="TextBox 23"/>
          <p:cNvSpPr txBox="1"/>
          <p:nvPr/>
        </p:nvSpPr>
        <p:spPr>
          <a:xfrm>
            <a:off x="3364991" y="6183630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AA3B8"/>
                </a:solidFill>
                <a:latin typeface="Helvetica Neue"/>
              </a:rPr>
              <a:t>Throwing paints the wall</a:t>
            </a:r>
          </a:p>
        </p:txBody>
      </p:sp>
      <p:pic>
        <p:nvPicPr>
          <p:cNvPr id="25" name="Picture 24" descr="s2_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7064" y="4617720"/>
            <a:ext cx="2670048" cy="1501902"/>
          </a:xfrm>
          <a:prstGeom prst="rect">
            <a:avLst/>
          </a:prstGeom>
          <a:ln w="9525">
            <a:solidFill>
              <a:srgbClr val="262D40"/>
            </a:solidFill>
          </a:ln>
          <a:effectLst/>
        </p:spPr>
      </p:pic>
      <p:sp>
        <p:nvSpPr>
          <p:cNvPr id="26" name="TextBox 25"/>
          <p:cNvSpPr txBox="1"/>
          <p:nvPr/>
        </p:nvSpPr>
        <p:spPr>
          <a:xfrm>
            <a:off x="6227064" y="6183630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AA3B8"/>
                </a:solidFill>
                <a:latin typeface="Helvetica Neue"/>
              </a:rPr>
              <a:t>The room saturates</a:t>
            </a:r>
          </a:p>
        </p:txBody>
      </p:sp>
      <p:pic>
        <p:nvPicPr>
          <p:cNvPr id="27" name="Picture 26" descr="s2_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9136" y="4617720"/>
            <a:ext cx="2670048" cy="1501902"/>
          </a:xfrm>
          <a:prstGeom prst="rect">
            <a:avLst/>
          </a:prstGeom>
          <a:ln w="9525">
            <a:solidFill>
              <a:srgbClr val="262D40"/>
            </a:solidFill>
          </a:ln>
          <a:effectLst/>
        </p:spPr>
      </p:pic>
      <p:sp>
        <p:nvSpPr>
          <p:cNvPr id="28" name="TextBox 27"/>
          <p:cNvSpPr txBox="1"/>
          <p:nvPr/>
        </p:nvSpPr>
        <p:spPr>
          <a:xfrm>
            <a:off x="9089136" y="6183630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AA3B8"/>
                </a:solidFill>
                <a:latin typeface="Helvetica Neue"/>
              </a:rPr>
              <a:t>Collapse opens the city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6510528"/>
            <a:ext cx="11183112" cy="10160"/>
          </a:xfrm>
          <a:prstGeom prst="rect">
            <a:avLst/>
          </a:prstGeom>
          <a:solidFill>
            <a:srgbClr val="26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7488"/>
                </a:solidFill>
                <a:latin typeface="Helvetica Neue"/>
              </a:rPr>
              <a:t>Mind Palace  ·  Semiha Paksoy  ·  MUS 442 Senior Project 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6583680"/>
            <a:ext cx="39136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39E1EE"/>
                </a:solidFill>
                <a:latin typeface="Helvetica Neue"/>
              </a:rPr>
              <a:t>semihapaksoy.com</a:t>
            </a:r>
            <a:r>
              <a:rPr sz="1000" b="0" i="0">
                <a:solidFill>
                  <a:srgbClr val="6B7488"/>
                </a:solidFill>
                <a:latin typeface="Helvetica Neue"/>
              </a:rPr>
              <a:t>   ·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5D3"/>
                </a:solidFill>
                <a:latin typeface="Helvetica Neue"/>
              </a:rPr>
              <a:t>07</a:t>
            </a:r>
            <a:r>
              <a:rPr sz="1250" b="0" i="0">
                <a:solidFill>
                  <a:srgbClr val="6B7488"/>
                </a:solidFill>
                <a:latin typeface="Helvetica Neue"/>
              </a:rPr>
              <a:t>  ·  </a:t>
            </a:r>
            <a:r>
              <a:rPr sz="1250" b="1" i="0" spc="220">
                <a:solidFill>
                  <a:srgbClr val="2EC5D3"/>
                </a:solidFill>
                <a:latin typeface="Helvetica Neue"/>
              </a:rPr>
              <a:t>SCENE 3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83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1" i="0">
                <a:solidFill>
                  <a:srgbClr val="EEF1F8"/>
                </a:solidFill>
                <a:latin typeface="Helvetica Neue"/>
              </a:rPr>
              <a:t>Routine returns as a metro ensemble and cleaner role.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4892040" cy="1143000"/>
          </a:xfrm>
          <a:prstGeom prst="roundRect">
            <a:avLst>
              <a:gd name="adj" fmla="val 8000"/>
            </a:avLst>
          </a:prstGeom>
          <a:solidFill>
            <a:srgbClr val="191E2C"/>
          </a:solidFill>
          <a:ln w="9525">
            <a:solidFill>
              <a:srgbClr val="2EC5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4389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EEF1F8"/>
                </a:solidFill>
                <a:latin typeface="Helvetica Neue"/>
              </a:rPr>
              <a:t>The player is not volunteering. The scene positions them as a cleaner inside a compulsory work cycle.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063240"/>
            <a:ext cx="48463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1" i="0">
                <a:solidFill>
                  <a:srgbClr val="9AA3B8"/>
                </a:solidFill>
                <a:latin typeface="Helvetica Neue"/>
              </a:rPr>
              <a:t>▸  </a:t>
            </a:r>
            <a:r>
              <a:rPr sz="1250" b="0" i="0">
                <a:solidFill>
                  <a:srgbClr val="EEF1F8"/>
                </a:solidFill>
                <a:latin typeface="Helvetica Neue"/>
              </a:rPr>
              <a:t>NPCs wander, board, exit, and reset cyclically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1" i="0">
                <a:solidFill>
                  <a:srgbClr val="9AA3B8"/>
                </a:solidFill>
                <a:latin typeface="Helvetica Neue"/>
              </a:rPr>
              <a:t>▸  </a:t>
            </a:r>
            <a:r>
              <a:rPr sz="1250" b="0" i="0">
                <a:solidFill>
                  <a:srgbClr val="EEF1F8"/>
                </a:solidFill>
                <a:latin typeface="Helvetica Neue"/>
              </a:rPr>
              <a:t>trash deposits add quantized melody notes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1" i="0">
                <a:solidFill>
                  <a:srgbClr val="9AA3B8"/>
                </a:solidFill>
                <a:latin typeface="Helvetica Neue"/>
              </a:rPr>
              <a:t>▸  </a:t>
            </a:r>
            <a:r>
              <a:rPr sz="1250" b="0" i="0">
                <a:solidFill>
                  <a:srgbClr val="EEF1F8"/>
                </a:solidFill>
                <a:latin typeface="Helvetica Neue"/>
              </a:rPr>
              <a:t>bench pads, rail ostinato, drones, ticks, voices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1" i="0">
                <a:solidFill>
                  <a:srgbClr val="9AA3B8"/>
                </a:solidFill>
                <a:latin typeface="Helvetica Neue"/>
              </a:rPr>
              <a:t>▸  </a:t>
            </a:r>
            <a:r>
              <a:rPr sz="1250" b="0" i="0">
                <a:solidFill>
                  <a:srgbClr val="EEF1F8"/>
                </a:solidFill>
                <a:latin typeface="Helvetica Neue"/>
              </a:rPr>
              <a:t>58 BPM A minor pentatonic station grid</a:t>
            </a:r>
          </a:p>
        </p:txBody>
      </p:sp>
      <p:pic>
        <p:nvPicPr>
          <p:cNvPr id="7" name="Picture 6" descr="s3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681728"/>
            <a:ext cx="2331720" cy="1311592"/>
          </a:xfrm>
          <a:prstGeom prst="rect">
            <a:avLst/>
          </a:prstGeom>
          <a:ln w="9525">
            <a:solidFill>
              <a:srgbClr val="262D40"/>
            </a:solidFill>
          </a:ln>
          <a:effectLst/>
        </p:spPr>
      </p:pic>
      <p:sp>
        <p:nvSpPr>
          <p:cNvPr id="8" name="TextBox 7"/>
          <p:cNvSpPr txBox="1"/>
          <p:nvPr/>
        </p:nvSpPr>
        <p:spPr>
          <a:xfrm>
            <a:off x="502920" y="6057328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AA3B8"/>
                </a:solidFill>
                <a:latin typeface="Helvetica Neue"/>
              </a:rPr>
              <a:t>Descent into the station</a:t>
            </a:r>
          </a:p>
        </p:txBody>
      </p:sp>
      <p:pic>
        <p:nvPicPr>
          <p:cNvPr id="9" name="Picture 8" descr="s3_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800" y="4681728"/>
            <a:ext cx="2331720" cy="1311592"/>
          </a:xfrm>
          <a:prstGeom prst="rect">
            <a:avLst/>
          </a:prstGeom>
          <a:ln w="9525">
            <a:solidFill>
              <a:srgbClr val="262D40"/>
            </a:solidFill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971800" y="6057328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AA3B8"/>
                </a:solidFill>
                <a:latin typeface="Helvetica Neue"/>
              </a:rPr>
              <a:t>Cleaner duty on the platform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1691640"/>
            <a:ext cx="5833872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9577" y="1819656"/>
            <a:ext cx="5519036" cy="2761487"/>
          </a:xfrm>
          <a:prstGeom prst="rect">
            <a:avLst/>
          </a:prstGeom>
          <a:effectLst/>
        </p:spPr>
      </p:pic>
      <p:sp>
        <p:nvSpPr>
          <p:cNvPr id="13" name="TextBox 12"/>
          <p:cNvSpPr txBox="1"/>
          <p:nvPr/>
        </p:nvSpPr>
        <p:spPr>
          <a:xfrm>
            <a:off x="5852160" y="4773168"/>
            <a:ext cx="5833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B7488"/>
                </a:solidFill>
                <a:latin typeface="Helvetica Neue"/>
              </a:rPr>
              <a:t>The station as ensemble — 58 BPM, A minor pentatonic</a:t>
            </a:r>
          </a:p>
        </p:txBody>
      </p:sp>
      <p:pic>
        <p:nvPicPr>
          <p:cNvPr id="14" name="Picture 13" descr="s3_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5074920"/>
            <a:ext cx="2240280" cy="1260157"/>
          </a:xfrm>
          <a:prstGeom prst="rect">
            <a:avLst/>
          </a:prstGeom>
          <a:ln w="9525">
            <a:solidFill>
              <a:srgbClr val="262D40"/>
            </a:solidFill>
          </a:ln>
          <a:effectLst/>
        </p:spPr>
      </p:pic>
      <p:pic>
        <p:nvPicPr>
          <p:cNvPr id="15" name="Picture 14" descr="s3_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5074920"/>
            <a:ext cx="2240280" cy="1260157"/>
          </a:xfrm>
          <a:prstGeom prst="rect">
            <a:avLst/>
          </a:prstGeom>
          <a:ln w="9525">
            <a:solidFill>
              <a:srgbClr val="262D40"/>
            </a:solidFill>
          </a:ln>
          <a:effectLst/>
        </p:spPr>
      </p:pic>
      <p:sp>
        <p:nvSpPr>
          <p:cNvPr id="16" name="Rectangle 15"/>
          <p:cNvSpPr/>
          <p:nvPr/>
        </p:nvSpPr>
        <p:spPr>
          <a:xfrm>
            <a:off x="502920" y="6510528"/>
            <a:ext cx="11183112" cy="10160"/>
          </a:xfrm>
          <a:prstGeom prst="rect">
            <a:avLst/>
          </a:prstGeom>
          <a:solidFill>
            <a:srgbClr val="26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7488"/>
                </a:solidFill>
                <a:latin typeface="Helvetica Neue"/>
              </a:rPr>
              <a:t>Mind Palace  ·  Semiha Paksoy  ·  MUS 442 Senior Project 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583680"/>
            <a:ext cx="39136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39E1EE"/>
                </a:solidFill>
                <a:latin typeface="Helvetica Neue"/>
              </a:rPr>
              <a:t>semihapaksoy.com</a:t>
            </a:r>
            <a:r>
              <a:rPr sz="1000" b="0" i="0">
                <a:solidFill>
                  <a:srgbClr val="6B7488"/>
                </a:solidFill>
                <a:latin typeface="Helvetica Neue"/>
              </a:rPr>
              <a:t>   ·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9B6DFF"/>
                </a:solidFill>
                <a:latin typeface="Helvetica Neue"/>
              </a:rPr>
              <a:t>08</a:t>
            </a:r>
            <a:r>
              <a:rPr sz="1250" b="0" i="0">
                <a:solidFill>
                  <a:srgbClr val="6B7488"/>
                </a:solidFill>
                <a:latin typeface="Helvetica Neue"/>
              </a:rPr>
              <a:t>  ·  </a:t>
            </a:r>
            <a:r>
              <a:rPr sz="1250" b="1" i="0" spc="220">
                <a:solidFill>
                  <a:srgbClr val="9B6DFF"/>
                </a:solidFill>
                <a:latin typeface="Helvetica Neue"/>
              </a:rPr>
              <a:t>SCENE 4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83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1" i="0">
                <a:solidFill>
                  <a:srgbClr val="EEF1F8"/>
                </a:solidFill>
                <a:latin typeface="Helvetica Neue"/>
              </a:rPr>
              <a:t>The player's composition is a clock face in disguise.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9164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9B6DFF"/>
                </a:solidFill>
                <a:latin typeface="Helvetica Neue"/>
              </a:rPr>
              <a:t>12 slots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16712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AA3B8"/>
                </a:solidFill>
                <a:latin typeface="Helvetica Neue"/>
              </a:rPr>
              <a:t>each orb removes 1/12 of the concert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6916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9B6DFF"/>
                </a:solidFill>
                <a:latin typeface="Helvetica Neue"/>
              </a:rPr>
              <a:t>0.25s to 1.0s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167128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AA3B8"/>
                </a:solidFill>
                <a:latin typeface="Helvetica Neue"/>
              </a:rPr>
              <a:t>sequencer slows into clock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71800"/>
            <a:ext cx="5074920" cy="1234440"/>
          </a:xfrm>
          <a:prstGeom prst="roundRect">
            <a:avLst>
              <a:gd name="adj" fmla="val 8000"/>
            </a:avLst>
          </a:prstGeom>
          <a:solidFill>
            <a:srgbClr val="191E2C"/>
          </a:solidFill>
          <a:ln w="9525">
            <a:solidFill>
              <a:srgbClr val="9B6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1546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EEF1F8"/>
                </a:solidFill>
                <a:latin typeface="Helvetica Neue"/>
              </a:rPr>
              <a:t>Tones become ticks. The factory reloads at 9:00. The loop is authored by the player, then captures the player.</a:t>
            </a:r>
          </a:p>
        </p:txBody>
      </p:sp>
      <p:pic>
        <p:nvPicPr>
          <p:cNvPr id="10" name="Picture 9" descr="s4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26280"/>
            <a:ext cx="2395728" cy="1347597"/>
          </a:xfrm>
          <a:prstGeom prst="rect">
            <a:avLst/>
          </a:prstGeom>
          <a:ln w="9525">
            <a:solidFill>
              <a:srgbClr val="262D40"/>
            </a:solidFill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502920" y="5937885"/>
            <a:ext cx="2395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AA3B8"/>
                </a:solidFill>
                <a:latin typeface="Helvetica Neue"/>
              </a:rPr>
              <a:t>The band performs</a:t>
            </a:r>
          </a:p>
        </p:txBody>
      </p:sp>
      <p:pic>
        <p:nvPicPr>
          <p:cNvPr id="12" name="Picture 11" descr="s4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4526280"/>
            <a:ext cx="2395728" cy="1347597"/>
          </a:xfrm>
          <a:prstGeom prst="rect">
            <a:avLst/>
          </a:prstGeom>
          <a:ln w="9525">
            <a:solidFill>
              <a:srgbClr val="262D40"/>
            </a:solidFill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3035808" y="5937885"/>
            <a:ext cx="2395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AA3B8"/>
                </a:solidFill>
                <a:latin typeface="Helvetica Neue"/>
              </a:rPr>
              <a:t>The crowd turns to the player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691640"/>
            <a:ext cx="5833872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7148" y="1819656"/>
            <a:ext cx="5083895" cy="2761487"/>
          </a:xfrm>
          <a:prstGeom prst="rect">
            <a:avLst/>
          </a:prstGeom>
          <a:effectLst/>
        </p:spPr>
      </p:pic>
      <p:sp>
        <p:nvSpPr>
          <p:cNvPr id="16" name="TextBox 15"/>
          <p:cNvSpPr txBox="1"/>
          <p:nvPr/>
        </p:nvSpPr>
        <p:spPr>
          <a:xfrm>
            <a:off x="5852160" y="4773168"/>
            <a:ext cx="5833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B7488"/>
                </a:solidFill>
                <a:latin typeface="Helvetica Neue"/>
              </a:rPr>
              <a:t>The radial sequencer is a clock face in disguise</a:t>
            </a:r>
          </a:p>
        </p:txBody>
      </p:sp>
      <p:pic>
        <p:nvPicPr>
          <p:cNvPr id="17" name="Picture 16" descr="s4_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5074920"/>
            <a:ext cx="2240280" cy="1260157"/>
          </a:xfrm>
          <a:prstGeom prst="rect">
            <a:avLst/>
          </a:prstGeom>
          <a:ln w="9525">
            <a:solidFill>
              <a:srgbClr val="262D40"/>
            </a:solidFill>
          </a:ln>
          <a:effectLst/>
        </p:spPr>
      </p:pic>
      <p:pic>
        <p:nvPicPr>
          <p:cNvPr id="18" name="Picture 17" descr="lp_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5074920"/>
            <a:ext cx="2240280" cy="1260157"/>
          </a:xfrm>
          <a:prstGeom prst="rect">
            <a:avLst/>
          </a:prstGeom>
          <a:ln w="9525">
            <a:solidFill>
              <a:srgbClr val="262D40"/>
            </a:solidFill>
          </a:ln>
          <a:effectLst/>
        </p:spPr>
      </p:pic>
      <p:sp>
        <p:nvSpPr>
          <p:cNvPr id="19" name="Rectangle 18"/>
          <p:cNvSpPr/>
          <p:nvPr/>
        </p:nvSpPr>
        <p:spPr>
          <a:xfrm>
            <a:off x="502920" y="6510528"/>
            <a:ext cx="11183112" cy="10160"/>
          </a:xfrm>
          <a:prstGeom prst="rect">
            <a:avLst/>
          </a:prstGeom>
          <a:solidFill>
            <a:srgbClr val="26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7488"/>
                </a:solidFill>
                <a:latin typeface="Helvetica Neue"/>
              </a:rPr>
              <a:t>Mind Palace  ·  Semiha Paksoy  ·  MUS 442 Senior Project II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583680"/>
            <a:ext cx="39136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39E1EE"/>
                </a:solidFill>
                <a:latin typeface="Helvetica Neue"/>
              </a:rPr>
              <a:t>semihapaksoy.com</a:t>
            </a:r>
            <a:r>
              <a:rPr sz="1000" b="0" i="0">
                <a:solidFill>
                  <a:srgbClr val="6B7488"/>
                </a:solidFill>
                <a:latin typeface="Helvetica Neue"/>
              </a:rPr>
              <a:t>   · 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D02E"/>
                </a:solidFill>
                <a:latin typeface="Helvetica Neue"/>
              </a:rPr>
              <a:t>09</a:t>
            </a:r>
            <a:r>
              <a:rPr sz="1250" b="0" i="0">
                <a:solidFill>
                  <a:srgbClr val="6B7488"/>
                </a:solidFill>
                <a:latin typeface="Helvetica Neue"/>
              </a:rPr>
              <a:t>  ·  </a:t>
            </a:r>
            <a:r>
              <a:rPr sz="1250" b="1" i="0" spc="220">
                <a:solidFill>
                  <a:srgbClr val="FFD02E"/>
                </a:solidFill>
                <a:latin typeface="Helvetica Neue"/>
              </a:rPr>
              <a:t>MUSICAL LANGUAGE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83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1" i="0">
                <a:solidFill>
                  <a:srgbClr val="EEF1F8"/>
                </a:solidFill>
                <a:latin typeface="Helvetica Neue"/>
              </a:rPr>
              <a:t>One pitch reservoir ties the daydream together.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64008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819949"/>
            <a:ext cx="6144768" cy="184650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502920" y="389534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B7488"/>
                </a:solidFill>
                <a:latin typeface="Helvetica Neue"/>
              </a:rPr>
              <a:t>Shared pitch reservoir — A minor pentatonic, A3 to A5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97680"/>
            <a:ext cx="6400800" cy="438912"/>
          </a:xfrm>
          <a:prstGeom prst="roundRect">
            <a:avLst>
              <a:gd name="adj" fmla="val 8000"/>
            </a:avLst>
          </a:prstGeom>
          <a:solidFill>
            <a:srgbClr val="191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4453128"/>
            <a:ext cx="118872" cy="118872"/>
          </a:xfrm>
          <a:prstGeom prst="ellipse">
            <a:avLst/>
          </a:prstGeom>
          <a:solidFill>
            <a:srgbClr val="FF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39826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5A4E"/>
                </a:solidFill>
                <a:latin typeface="Helvetica Neue"/>
              </a:rPr>
              <a:t>Scene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439826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EF1F8"/>
                </a:solidFill>
                <a:latin typeface="Helvetica Neue"/>
              </a:rPr>
              <a:t>factory composes; player obeys its grid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9744"/>
            <a:ext cx="6400800" cy="438912"/>
          </a:xfrm>
          <a:prstGeom prst="roundRect">
            <a:avLst>
              <a:gd name="adj" fmla="val 8000"/>
            </a:avLst>
          </a:prstGeom>
          <a:solidFill>
            <a:srgbClr val="191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4965192"/>
            <a:ext cx="118872" cy="118872"/>
          </a:xfrm>
          <a:prstGeom prst="ellipse">
            <a:avLst/>
          </a:prstGeom>
          <a:solidFill>
            <a:srgbClr val="E84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91032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4CE7"/>
                </a:solidFill>
                <a:latin typeface="Helvetica Neue"/>
              </a:rPr>
              <a:t>Scene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91032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EF1F8"/>
                </a:solidFill>
                <a:latin typeface="Helvetica Neue"/>
              </a:rPr>
              <a:t>player improvises; no global grid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321808"/>
            <a:ext cx="6400800" cy="438912"/>
          </a:xfrm>
          <a:prstGeom prst="roundRect">
            <a:avLst>
              <a:gd name="adj" fmla="val 8000"/>
            </a:avLst>
          </a:prstGeom>
          <a:solidFill>
            <a:srgbClr val="191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5800" y="5477256"/>
            <a:ext cx="118872" cy="118872"/>
          </a:xfrm>
          <a:prstGeom prst="ellipse">
            <a:avLst/>
          </a:prstGeom>
          <a:solidFill>
            <a:srgbClr val="2EC5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42239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C5D3"/>
                </a:solidFill>
                <a:latin typeface="Helvetica Neue"/>
              </a:rPr>
              <a:t>Scene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542239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EF1F8"/>
                </a:solidFill>
                <a:latin typeface="Helvetica Neue"/>
              </a:rPr>
              <a:t>world performs; player joins the ensemble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833872"/>
            <a:ext cx="6400800" cy="438912"/>
          </a:xfrm>
          <a:prstGeom prst="roundRect">
            <a:avLst>
              <a:gd name="adj" fmla="val 8000"/>
            </a:avLst>
          </a:prstGeom>
          <a:solidFill>
            <a:srgbClr val="191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5989320"/>
            <a:ext cx="118872" cy="118872"/>
          </a:xfrm>
          <a:prstGeom prst="ellipse">
            <a:avLst/>
          </a:prstGeom>
          <a:solidFill>
            <a:srgbClr val="9B6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934456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9B6DFF"/>
                </a:solidFill>
                <a:latin typeface="Helvetica Neue"/>
              </a:rPr>
              <a:t>Scene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593445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EF1F8"/>
                </a:solidFill>
                <a:latin typeface="Helvetica Neue"/>
              </a:rPr>
              <a:t>player composes; loop becomes timekeeper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8040" y="1645920"/>
            <a:ext cx="4507992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d1_ar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6056" y="2350008"/>
            <a:ext cx="4251959" cy="1700784"/>
          </a:xfrm>
          <a:prstGeom prst="rect">
            <a:avLst/>
          </a:prstGeom>
          <a:effectLst/>
        </p:spPr>
      </p:pic>
      <p:sp>
        <p:nvSpPr>
          <p:cNvPr id="25" name="TextBox 24"/>
          <p:cNvSpPr txBox="1"/>
          <p:nvPr/>
        </p:nvSpPr>
        <p:spPr>
          <a:xfrm>
            <a:off x="7178040" y="4809744"/>
            <a:ext cx="4507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7488"/>
                </a:solidFill>
                <a:latin typeface="Helvetica Neue"/>
              </a:rPr>
              <a:t>Musical arc of the four-scene loop — the clock reveal closes the cycle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78040" y="5285232"/>
            <a:ext cx="4507992" cy="1005840"/>
          </a:xfrm>
          <a:prstGeom prst="roundRect">
            <a:avLst>
              <a:gd name="adj" fmla="val 8000"/>
            </a:avLst>
          </a:prstGeom>
          <a:solidFill>
            <a:srgbClr val="191E2C"/>
          </a:solidFill>
          <a:ln w="9525">
            <a:solidFill>
              <a:srgbClr val="FFD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5449824"/>
            <a:ext cx="4069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EEF1F8"/>
                </a:solidFill>
                <a:latin typeface="Helvetica Neue"/>
              </a:rPr>
              <a:t>All scenes share one pitch language and sample-accurate dspTime scheduling.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510528"/>
            <a:ext cx="11183112" cy="10160"/>
          </a:xfrm>
          <a:prstGeom prst="rect">
            <a:avLst/>
          </a:prstGeom>
          <a:solidFill>
            <a:srgbClr val="26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7488"/>
                </a:solidFill>
                <a:latin typeface="Helvetica Neue"/>
              </a:rPr>
              <a:t>Mind Palace  ·  Semiha Paksoy  ·  MUS 442 Senior Project II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6583680"/>
            <a:ext cx="39136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39E1EE"/>
                </a:solidFill>
                <a:latin typeface="Helvetica Neue"/>
              </a:rPr>
              <a:t>semihapaksoy.com</a:t>
            </a:r>
            <a:r>
              <a:rPr sz="1000" b="0" i="0">
                <a:solidFill>
                  <a:srgbClr val="6B7488"/>
                </a:solidFill>
                <a:latin typeface="Helvetica Neue"/>
              </a:rPr>
              <a:t>   · 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5D3"/>
                </a:solidFill>
                <a:latin typeface="Helvetica Neue"/>
              </a:rPr>
              <a:t>10</a:t>
            </a:r>
            <a:r>
              <a:rPr sz="1250" b="0" i="0">
                <a:solidFill>
                  <a:srgbClr val="6B7488"/>
                </a:solidFill>
                <a:latin typeface="Helvetica Neue"/>
              </a:rPr>
              <a:t>  ·  </a:t>
            </a:r>
            <a:r>
              <a:rPr sz="1250" b="1" i="0" spc="220">
                <a:solidFill>
                  <a:srgbClr val="2EC5D3"/>
                </a:solidFill>
                <a:latin typeface="Helvetica Neue"/>
              </a:rPr>
              <a:t>TECHNICAL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83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500" b="1" i="0">
                <a:solidFill>
                  <a:srgbClr val="EEF1F8"/>
                </a:solidFill>
                <a:latin typeface="Helvetica Neue"/>
              </a:rPr>
              <a:t>The implementation connects XR interaction, scene tools, and audio clocks.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141823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22376" y="1938528"/>
            <a:ext cx="548640" cy="64008"/>
          </a:xfrm>
          <a:prstGeom prst="roundRect">
            <a:avLst>
              <a:gd name="adj" fmla="val 50000"/>
            </a:avLst>
          </a:prstGeom>
          <a:solidFill>
            <a:srgbClr val="39E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103120"/>
            <a:ext cx="22585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EF1F8"/>
                </a:solidFill>
                <a:latin typeface="Helvetica Neue"/>
              </a:rPr>
              <a:t>XR 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542032"/>
            <a:ext cx="2258568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39E1EE"/>
                </a:solidFill>
                <a:latin typeface="Helvetica Neue"/>
              </a:rPr>
              <a:t>—  </a:t>
            </a:r>
            <a:r>
              <a:rPr sz="1250" b="0" i="0">
                <a:solidFill>
                  <a:srgbClr val="9AA3B8"/>
                </a:solidFill>
                <a:latin typeface="Helvetica Neue"/>
              </a:rPr>
              <a:t>hands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39E1EE"/>
                </a:solidFill>
                <a:latin typeface="Helvetica Neue"/>
              </a:rPr>
              <a:t>—  </a:t>
            </a:r>
            <a:r>
              <a:rPr sz="1250" b="0" i="0">
                <a:solidFill>
                  <a:srgbClr val="9AA3B8"/>
                </a:solidFill>
                <a:latin typeface="Helvetica Neue"/>
              </a:rPr>
              <a:t>controllers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39E1EE"/>
                </a:solidFill>
                <a:latin typeface="Helvetica Neue"/>
              </a:rPr>
              <a:t>—  </a:t>
            </a:r>
            <a:r>
              <a:rPr sz="1250" b="0" i="0">
                <a:solidFill>
                  <a:srgbClr val="9AA3B8"/>
                </a:solidFill>
                <a:latin typeface="Helvetica Neue"/>
              </a:rPr>
              <a:t>grab / release / throw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1" y="169164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141823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84448" y="1938528"/>
            <a:ext cx="548640" cy="64008"/>
          </a:xfrm>
          <a:prstGeom prst="roundRect">
            <a:avLst>
              <a:gd name="adj" fmla="val 50000"/>
            </a:avLst>
          </a:prstGeom>
          <a:solidFill>
            <a:srgbClr val="E84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2103120"/>
            <a:ext cx="22585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EF1F8"/>
                </a:solidFill>
                <a:latin typeface="Helvetica Neue"/>
              </a:rPr>
              <a:t>Scene logic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4448" y="2542032"/>
            <a:ext cx="2258568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E84CE7"/>
                </a:solidFill>
                <a:latin typeface="Helvetica Neue"/>
              </a:rPr>
              <a:t>—  </a:t>
            </a:r>
            <a:r>
              <a:rPr sz="1250" b="0" i="0">
                <a:solidFill>
                  <a:srgbClr val="9AA3B8"/>
                </a:solidFill>
                <a:latin typeface="Helvetica Neue"/>
              </a:rPr>
              <a:t>quota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E84CE7"/>
                </a:solidFill>
                <a:latin typeface="Helvetica Neue"/>
              </a:rPr>
              <a:t>—  </a:t>
            </a:r>
            <a:r>
              <a:rPr sz="1250" b="0" i="0">
                <a:solidFill>
                  <a:srgbClr val="9AA3B8"/>
                </a:solidFill>
                <a:latin typeface="Helvetica Neue"/>
              </a:rPr>
              <a:t>wall hits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E84CE7"/>
                </a:solidFill>
                <a:latin typeface="Helvetica Neue"/>
              </a:rPr>
              <a:t>—  </a:t>
            </a:r>
            <a:r>
              <a:rPr sz="1250" b="0" i="0">
                <a:solidFill>
                  <a:srgbClr val="9AA3B8"/>
                </a:solidFill>
                <a:latin typeface="Helvetica Neue"/>
              </a:rPr>
              <a:t>train loop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E84CE7"/>
                </a:solidFill>
                <a:latin typeface="Helvetica Neue"/>
              </a:rPr>
              <a:t>—  </a:t>
            </a:r>
            <a:r>
              <a:rPr sz="1250" b="0" i="0">
                <a:solidFill>
                  <a:srgbClr val="9AA3B8"/>
                </a:solidFill>
                <a:latin typeface="Helvetica Neue"/>
              </a:rPr>
              <a:t>sequencer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7064" y="169164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141823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46520" y="1938528"/>
            <a:ext cx="548640" cy="64008"/>
          </a:xfrm>
          <a:prstGeom prst="roundRect">
            <a:avLst>
              <a:gd name="adj" fmla="val 50000"/>
            </a:avLst>
          </a:prstGeom>
          <a:solidFill>
            <a:srgbClr val="FFD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103120"/>
            <a:ext cx="22585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EF1F8"/>
                </a:solidFill>
                <a:latin typeface="Helvetica Neue"/>
              </a:rPr>
              <a:t>Audio directors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542032"/>
            <a:ext cx="2258568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FFD02E"/>
                </a:solidFill>
                <a:latin typeface="Helvetica Neue"/>
              </a:rPr>
              <a:t>—  </a:t>
            </a:r>
            <a:r>
              <a:rPr sz="1250" b="0" i="0">
                <a:solidFill>
                  <a:srgbClr val="9AA3B8"/>
                </a:solidFill>
                <a:latin typeface="Helvetica Neue"/>
              </a:rPr>
              <a:t>DSP scheduling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FFD02E"/>
                </a:solidFill>
                <a:latin typeface="Helvetica Neue"/>
              </a:rPr>
              <a:t>—  </a:t>
            </a:r>
            <a:r>
              <a:rPr sz="1250" b="0" i="0">
                <a:solidFill>
                  <a:srgbClr val="9AA3B8"/>
                </a:solidFill>
                <a:latin typeface="Helvetica Neue"/>
              </a:rPr>
              <a:t>runtime slicing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FFD02E"/>
                </a:solidFill>
                <a:latin typeface="Helvetica Neue"/>
              </a:rPr>
              <a:t>—  </a:t>
            </a:r>
            <a:r>
              <a:rPr sz="1250" b="0" i="0">
                <a:solidFill>
                  <a:srgbClr val="9AA3B8"/>
                </a:solidFill>
                <a:latin typeface="Helvetica Neue"/>
              </a:rPr>
              <a:t>stems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FFD02E"/>
                </a:solidFill>
                <a:latin typeface="Helvetica Neue"/>
              </a:rPr>
              <a:t>—  </a:t>
            </a:r>
            <a:r>
              <a:rPr sz="1250" b="0" i="0">
                <a:solidFill>
                  <a:srgbClr val="9AA3B8"/>
                </a:solidFill>
                <a:latin typeface="Helvetica Neue"/>
              </a:rPr>
              <a:t>synthesis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89136" y="169164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141823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308592" y="1938528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EC5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08592" y="2103120"/>
            <a:ext cx="22585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EF1F8"/>
                </a:solidFill>
                <a:latin typeface="Helvetica Neue"/>
              </a:rPr>
              <a:t>Quest 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8592" y="2542032"/>
            <a:ext cx="2258568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2EC5D3"/>
                </a:solidFill>
                <a:latin typeface="Helvetica Neue"/>
              </a:rPr>
              <a:t>—  </a:t>
            </a:r>
            <a:r>
              <a:rPr sz="1250" b="0" i="0">
                <a:solidFill>
                  <a:srgbClr val="9AA3B8"/>
                </a:solidFill>
                <a:latin typeface="Helvetica Neue"/>
              </a:rPr>
              <a:t>OpenXR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2EC5D3"/>
                </a:solidFill>
                <a:latin typeface="Helvetica Neue"/>
              </a:rPr>
              <a:t>—  </a:t>
            </a:r>
            <a:r>
              <a:rPr sz="1250" b="0" i="0">
                <a:solidFill>
                  <a:srgbClr val="9AA3B8"/>
                </a:solidFill>
                <a:latin typeface="Helvetica Neue"/>
              </a:rPr>
              <a:t>Android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2EC5D3"/>
                </a:solidFill>
                <a:latin typeface="Helvetica Neue"/>
              </a:rPr>
              <a:t>—  </a:t>
            </a:r>
            <a:r>
              <a:rPr sz="1250" b="0" i="0">
                <a:solidFill>
                  <a:srgbClr val="9AA3B8"/>
                </a:solidFill>
                <a:latin typeface="Helvetica Neue"/>
              </a:rPr>
              <a:t>VR diagnostics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617720"/>
            <a:ext cx="2670048" cy="1417320"/>
          </a:xfrm>
          <a:prstGeom prst="roundRect">
            <a:avLst>
              <a:gd name="adj" fmla="val 8000"/>
            </a:avLst>
          </a:prstGeom>
          <a:solidFill>
            <a:srgbClr val="191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846320"/>
            <a:ext cx="26700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FF5A4E"/>
                </a:solidFill>
                <a:latin typeface="Helvetica Neu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50468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AA3B8"/>
                </a:solidFill>
                <a:latin typeface="Helvetica Neue"/>
              </a:rPr>
              <a:t>root-level scenes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64991" y="4617720"/>
            <a:ext cx="2670048" cy="1417320"/>
          </a:xfrm>
          <a:prstGeom prst="roundRect">
            <a:avLst>
              <a:gd name="adj" fmla="val 8000"/>
            </a:avLst>
          </a:prstGeom>
          <a:solidFill>
            <a:srgbClr val="191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64991" y="4846320"/>
            <a:ext cx="26700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E84CE7"/>
                </a:solidFill>
                <a:latin typeface="Helvetica Neue"/>
              </a:rPr>
              <a:t>69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64991" y="550468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AA3B8"/>
                </a:solidFill>
                <a:latin typeface="Helvetica Neue"/>
              </a:rPr>
              <a:t>runtime scripts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4617720"/>
            <a:ext cx="2670048" cy="1417320"/>
          </a:xfrm>
          <a:prstGeom prst="roundRect">
            <a:avLst>
              <a:gd name="adj" fmla="val 8000"/>
            </a:avLst>
          </a:prstGeom>
          <a:solidFill>
            <a:srgbClr val="191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4846320"/>
            <a:ext cx="26700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2EC5D3"/>
                </a:solidFill>
                <a:latin typeface="Helvetica Neue"/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27064" y="550468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AA3B8"/>
                </a:solidFill>
                <a:latin typeface="Helvetica Neue"/>
              </a:rPr>
              <a:t>editor tools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89136" y="4617720"/>
            <a:ext cx="2670048" cy="1417320"/>
          </a:xfrm>
          <a:prstGeom prst="roundRect">
            <a:avLst>
              <a:gd name="adj" fmla="val 8000"/>
            </a:avLst>
          </a:prstGeom>
          <a:solidFill>
            <a:srgbClr val="191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89136" y="4846320"/>
            <a:ext cx="26700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9B6DFF"/>
                </a:solidFill>
                <a:latin typeface="Helvetica Neue"/>
              </a:rPr>
              <a:t>~16k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550468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AA3B8"/>
                </a:solidFill>
                <a:latin typeface="Helvetica Neue"/>
              </a:rPr>
              <a:t>project C# lines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510528"/>
            <a:ext cx="11183112" cy="10160"/>
          </a:xfrm>
          <a:prstGeom prst="rect">
            <a:avLst/>
          </a:prstGeom>
          <a:solidFill>
            <a:srgbClr val="26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7488"/>
                </a:solidFill>
                <a:latin typeface="Helvetica Neue"/>
              </a:rPr>
              <a:t>Mind Palace  ·  Semiha Paksoy  ·  MUS 442 Senior Project II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6583680"/>
            <a:ext cx="39136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39E1EE"/>
                </a:solidFill>
                <a:latin typeface="Helvetica Neue"/>
              </a:rPr>
              <a:t>semihapaksoy.com</a:t>
            </a:r>
            <a:r>
              <a:rPr sz="1000" b="0" i="0">
                <a:solidFill>
                  <a:srgbClr val="6B7488"/>
                </a:solidFill>
                <a:latin typeface="Helvetica Neue"/>
              </a:rPr>
              <a:t>   ·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9B6DFF"/>
                </a:solidFill>
                <a:latin typeface="Helvetica Neue"/>
              </a:rPr>
              <a:t>11</a:t>
            </a:r>
            <a:r>
              <a:rPr sz="1250" b="0" i="0">
                <a:solidFill>
                  <a:srgbClr val="6B7488"/>
                </a:solidFill>
                <a:latin typeface="Helvetica Neue"/>
              </a:rPr>
              <a:t>  ·  </a:t>
            </a:r>
            <a:r>
              <a:rPr sz="1250" b="1" i="0" spc="220">
                <a:solidFill>
                  <a:srgbClr val="9B6DFF"/>
                </a:solidFill>
                <a:latin typeface="Helvetica Neue"/>
              </a:rPr>
              <a:t>SEMESTER DELTA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83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500" b="1" i="0">
                <a:solidFill>
                  <a:srgbClr val="EEF1F8"/>
                </a:solidFill>
                <a:latin typeface="Helvetica Neue"/>
              </a:rPr>
              <a:t>MUS 442 turned a contrast study into a circular VR music system.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486400" cy="2121408"/>
          </a:xfrm>
          <a:prstGeom prst="roundRect">
            <a:avLst>
              <a:gd name="adj" fmla="val 8000"/>
            </a:avLst>
          </a:prstGeom>
          <a:solidFill>
            <a:srgbClr val="141823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48640" cy="64008"/>
          </a:xfrm>
          <a:prstGeom prst="roundRect">
            <a:avLst>
              <a:gd name="adj" fmla="val 50000"/>
            </a:avLst>
          </a:prstGeom>
          <a:solidFill>
            <a:srgbClr val="FF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30552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EEF1F8"/>
                </a:solidFill>
                <a:latin typeface="Helvetica Neue"/>
              </a:rPr>
              <a:t>Narrative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6032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1" i="0">
                <a:solidFill>
                  <a:srgbClr val="FF5A4E"/>
                </a:solidFill>
                <a:latin typeface="Helvetica Neue"/>
              </a:rPr>
              <a:t>▸  </a:t>
            </a:r>
            <a:r>
              <a:rPr sz="1250" b="0" i="0">
                <a:solidFill>
                  <a:srgbClr val="9AA3B8"/>
                </a:solidFill>
                <a:latin typeface="Helvetica Neue"/>
              </a:rPr>
              <a:t>two scenes became four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1" i="0">
                <a:solidFill>
                  <a:srgbClr val="FF5A4E"/>
                </a:solidFill>
                <a:latin typeface="Helvetica Neue"/>
              </a:rPr>
              <a:t>▸  </a:t>
            </a:r>
            <a:r>
              <a:rPr sz="1250" b="0" i="0">
                <a:solidFill>
                  <a:srgbClr val="9AA3B8"/>
                </a:solidFill>
                <a:latin typeface="Helvetica Neue"/>
              </a:rPr>
              <a:t>metro replaced old Scene 3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1" i="0">
                <a:solidFill>
                  <a:srgbClr val="FF5A4E"/>
                </a:solidFill>
                <a:latin typeface="Helvetica Neue"/>
              </a:rPr>
              <a:t>▸  </a:t>
            </a:r>
            <a:r>
              <a:rPr sz="1250" b="0" i="0">
                <a:solidFill>
                  <a:srgbClr val="9AA3B8"/>
                </a:solidFill>
                <a:latin typeface="Helvetica Neue"/>
              </a:rPr>
              <a:t>concert finale became clock reveal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0488" y="1691640"/>
            <a:ext cx="5486400" cy="2121408"/>
          </a:xfrm>
          <a:prstGeom prst="roundRect">
            <a:avLst>
              <a:gd name="adj" fmla="val 8000"/>
            </a:avLst>
          </a:prstGeom>
          <a:solidFill>
            <a:srgbClr val="141823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64807" y="1965960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EC5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7" y="2130552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EEF1F8"/>
                </a:solidFill>
                <a:latin typeface="Helvetica Neue"/>
              </a:rPr>
              <a:t>Systems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7" y="256032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1" i="0">
                <a:solidFill>
                  <a:srgbClr val="2EC5D3"/>
                </a:solidFill>
                <a:latin typeface="Helvetica Neue"/>
              </a:rPr>
              <a:t>▸  </a:t>
            </a:r>
            <a:r>
              <a:rPr sz="1250" b="0" i="0">
                <a:solidFill>
                  <a:srgbClr val="9AA3B8"/>
                </a:solidFill>
                <a:latin typeface="Helvetica Neue"/>
              </a:rPr>
              <a:t>cyclic train and NPC boarding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1" i="0">
                <a:solidFill>
                  <a:srgbClr val="2EC5D3"/>
                </a:solidFill>
                <a:latin typeface="Helvetica Neue"/>
              </a:rPr>
              <a:t>▸  </a:t>
            </a:r>
            <a:r>
              <a:rPr sz="1250" b="0" i="0">
                <a:solidFill>
                  <a:srgbClr val="9AA3B8"/>
                </a:solidFill>
                <a:latin typeface="Helvetica Neue"/>
              </a:rPr>
              <a:t>compulsory cleanup cart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1" i="0">
                <a:solidFill>
                  <a:srgbClr val="2EC5D3"/>
                </a:solidFill>
                <a:latin typeface="Helvetica Neue"/>
              </a:rPr>
              <a:t>▸  </a:t>
            </a:r>
            <a:r>
              <a:rPr sz="1250" b="0" i="0">
                <a:solidFill>
                  <a:srgbClr val="9AA3B8"/>
                </a:solidFill>
                <a:latin typeface="Helvetica Neue"/>
              </a:rPr>
              <a:t>Scene 4 sequencer, band, audience tools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977639"/>
            <a:ext cx="5486400" cy="2121408"/>
          </a:xfrm>
          <a:prstGeom prst="roundRect">
            <a:avLst>
              <a:gd name="adj" fmla="val 8000"/>
            </a:avLst>
          </a:prstGeom>
          <a:solidFill>
            <a:srgbClr val="141823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4251959"/>
            <a:ext cx="548640" cy="64008"/>
          </a:xfrm>
          <a:prstGeom prst="roundRect">
            <a:avLst>
              <a:gd name="adj" fmla="val 50000"/>
            </a:avLst>
          </a:prstGeom>
          <a:solidFill>
            <a:srgbClr val="E84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416552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EEF1F8"/>
                </a:solidFill>
                <a:latin typeface="Helvetica Neue"/>
              </a:rPr>
              <a:t>Sound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1" i="0">
                <a:solidFill>
                  <a:srgbClr val="E84CE7"/>
                </a:solidFill>
                <a:latin typeface="Helvetica Neue"/>
              </a:rPr>
              <a:t>▸  </a:t>
            </a:r>
            <a:r>
              <a:rPr sz="1250" b="0" i="0">
                <a:solidFill>
                  <a:srgbClr val="9AA3B8"/>
                </a:solidFill>
                <a:latin typeface="Helvetica Neue"/>
              </a:rPr>
              <a:t>factory and metro generative scores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1" i="0">
                <a:solidFill>
                  <a:srgbClr val="E84CE7"/>
                </a:solidFill>
                <a:latin typeface="Helvetica Neue"/>
              </a:rPr>
              <a:t>▸  </a:t>
            </a:r>
            <a:r>
              <a:rPr sz="1250" b="0" i="0">
                <a:solidFill>
                  <a:srgbClr val="9AA3B8"/>
                </a:solidFill>
                <a:latin typeface="Helvetica Neue"/>
              </a:rPr>
              <a:t>city ambience after visual collapse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1" i="0">
                <a:solidFill>
                  <a:srgbClr val="E84CE7"/>
                </a:solidFill>
                <a:latin typeface="Helvetica Neue"/>
              </a:rPr>
              <a:t>▸  </a:t>
            </a:r>
            <a:r>
              <a:rPr sz="1250" b="0" i="0">
                <a:solidFill>
                  <a:srgbClr val="9AA3B8"/>
                </a:solidFill>
                <a:latin typeface="Helvetica Neue"/>
              </a:rPr>
              <a:t>DSP-synced concert 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3977639"/>
            <a:ext cx="5486400" cy="2121408"/>
          </a:xfrm>
          <a:prstGeom prst="roundRect">
            <a:avLst>
              <a:gd name="adj" fmla="val 8000"/>
            </a:avLst>
          </a:prstGeom>
          <a:solidFill>
            <a:srgbClr val="141823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64807" y="4251959"/>
            <a:ext cx="548640" cy="64008"/>
          </a:xfrm>
          <a:prstGeom prst="roundRect">
            <a:avLst>
              <a:gd name="adj" fmla="val 50000"/>
            </a:avLst>
          </a:prstGeom>
          <a:solidFill>
            <a:srgbClr val="9B6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4807" y="4416552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EEF1F8"/>
                </a:solidFill>
                <a:latin typeface="Helvetica Neue"/>
              </a:rPr>
              <a:t>Device polish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807" y="484632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1" i="0">
                <a:solidFill>
                  <a:srgbClr val="9B6DFF"/>
                </a:solidFill>
                <a:latin typeface="Helvetica Neue"/>
              </a:rPr>
              <a:t>▸  </a:t>
            </a:r>
            <a:r>
              <a:rPr sz="1250" b="0" i="0">
                <a:solidFill>
                  <a:srgbClr val="9AA3B8"/>
                </a:solidFill>
                <a:latin typeface="Helvetica Neue"/>
              </a:rPr>
              <a:t>Quest physics/grab repairs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1" i="0">
                <a:solidFill>
                  <a:srgbClr val="9B6DFF"/>
                </a:solidFill>
                <a:latin typeface="Helvetica Neue"/>
              </a:rPr>
              <a:t>▸  </a:t>
            </a:r>
            <a:r>
              <a:rPr sz="1250" b="0" i="0">
                <a:solidFill>
                  <a:srgbClr val="9AA3B8"/>
                </a:solidFill>
                <a:latin typeface="Helvetica Neue"/>
              </a:rPr>
              <a:t>LOD, blob shadow, diagnostics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1" i="0">
                <a:solidFill>
                  <a:srgbClr val="9B6DFF"/>
                </a:solidFill>
                <a:latin typeface="Helvetica Neue"/>
              </a:rPr>
              <a:t>▸  </a:t>
            </a:r>
            <a:r>
              <a:rPr sz="1250" b="0" i="0">
                <a:solidFill>
                  <a:srgbClr val="9AA3B8"/>
                </a:solidFill>
                <a:latin typeface="Helvetica Neue"/>
              </a:rPr>
              <a:t>cross-scene final verification pending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14476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B7488"/>
                </a:solidFill>
                <a:latin typeface="Helvetica Neue"/>
              </a:rPr>
              <a:t>From MUS 441 contrast study  →  to a four-scene circular music system, performed in first person.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510528"/>
            <a:ext cx="11183112" cy="10160"/>
          </a:xfrm>
          <a:prstGeom prst="rect">
            <a:avLst/>
          </a:prstGeom>
          <a:solidFill>
            <a:srgbClr val="26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7488"/>
                </a:solidFill>
                <a:latin typeface="Helvetica Neue"/>
              </a:rPr>
              <a:t>Mind Palace  ·  Semiha Paksoy  ·  MUS 442 Senior Project II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6583680"/>
            <a:ext cx="39136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39E1EE"/>
                </a:solidFill>
                <a:latin typeface="Helvetica Neue"/>
              </a:rPr>
              <a:t>semihapaksoy.com</a:t>
            </a:r>
            <a:r>
              <a:rPr sz="1000" b="0" i="0">
                <a:solidFill>
                  <a:srgbClr val="6B7488"/>
                </a:solidFill>
                <a:latin typeface="Helvetica Neue"/>
              </a:rPr>
              <a:t>   ·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9E1EE"/>
                </a:solidFill>
                <a:latin typeface="Helvetica Neue"/>
              </a:rPr>
              <a:t>12</a:t>
            </a:r>
            <a:r>
              <a:rPr sz="1250" b="0" i="0">
                <a:solidFill>
                  <a:srgbClr val="6B7488"/>
                </a:solidFill>
                <a:latin typeface="Helvetica Neue"/>
              </a:rPr>
              <a:t>  ·  </a:t>
            </a:r>
            <a:r>
              <a:rPr sz="1250" b="1" i="0" spc="220">
                <a:solidFill>
                  <a:srgbClr val="39E1EE"/>
                </a:solidFill>
                <a:latin typeface="Helvetica Neue"/>
              </a:rPr>
              <a:t>SUBMISSION PACKAGE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83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500" b="1" i="0">
                <a:solidFill>
                  <a:srgbClr val="EEF1F8"/>
                </a:solidFill>
                <a:latin typeface="Helvetica Neue"/>
              </a:rPr>
              <a:t>The materials now match the corrected project identity.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6949440" cy="566928"/>
          </a:xfrm>
          <a:prstGeom prst="roundRect">
            <a:avLst>
              <a:gd name="adj" fmla="val 8000"/>
            </a:avLst>
          </a:prstGeom>
          <a:solidFill>
            <a:srgbClr val="14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13232" y="1929384"/>
            <a:ext cx="320040" cy="54864"/>
          </a:xfrm>
          <a:prstGeom prst="roundRect">
            <a:avLst>
              <a:gd name="adj" fmla="val 50000"/>
            </a:avLst>
          </a:prstGeom>
          <a:solidFill>
            <a:srgbClr val="FF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EF1F8"/>
                </a:solidFill>
                <a:latin typeface="Helvetica Neue"/>
              </a:rPr>
              <a:t>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1783080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AA3B8"/>
                </a:solidFill>
                <a:latin typeface="Helvetica Neue"/>
              </a:rPr>
              <a:t>MUS442_Final_Report.docx / .pdf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68296"/>
            <a:ext cx="6949440" cy="566928"/>
          </a:xfrm>
          <a:prstGeom prst="roundRect">
            <a:avLst>
              <a:gd name="adj" fmla="val 8000"/>
            </a:avLst>
          </a:prstGeom>
          <a:solidFill>
            <a:srgbClr val="191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2606039"/>
            <a:ext cx="320040" cy="54864"/>
          </a:xfrm>
          <a:prstGeom prst="roundRect">
            <a:avLst>
              <a:gd name="adj" fmla="val 50000"/>
            </a:avLst>
          </a:prstGeom>
          <a:solidFill>
            <a:srgbClr val="E84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45973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EF1F8"/>
                </a:solidFill>
                <a:latin typeface="Helvetica Neue"/>
              </a:rPr>
              <a:t>Deck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459736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AA3B8"/>
                </a:solidFill>
                <a:latin typeface="Helvetica Neue"/>
              </a:rPr>
              <a:t>MUS442_Final_Presentation.pptx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44952"/>
            <a:ext cx="6949440" cy="566928"/>
          </a:xfrm>
          <a:prstGeom prst="roundRect">
            <a:avLst>
              <a:gd name="adj" fmla="val 8000"/>
            </a:avLst>
          </a:prstGeom>
          <a:solidFill>
            <a:srgbClr val="14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3232" y="3282696"/>
            <a:ext cx="320040" cy="54864"/>
          </a:xfrm>
          <a:prstGeom prst="roundRect">
            <a:avLst>
              <a:gd name="adj" fmla="val 50000"/>
            </a:avLst>
          </a:prstGeom>
          <a:solidFill>
            <a:srgbClr val="2EC5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136392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EF1F8"/>
                </a:solidFill>
                <a:latin typeface="Helvetica Neue"/>
              </a:rPr>
              <a:t>System map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3136392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AA3B8"/>
                </a:solidFill>
                <a:latin typeface="Helvetica Neue"/>
              </a:rPr>
              <a:t>MUS442_Musical_System_Map.docx / .pdf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21608"/>
            <a:ext cx="6949440" cy="566928"/>
          </a:xfrm>
          <a:prstGeom prst="roundRect">
            <a:avLst>
              <a:gd name="adj" fmla="val 8000"/>
            </a:avLst>
          </a:prstGeom>
          <a:solidFill>
            <a:srgbClr val="191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3232" y="3959352"/>
            <a:ext cx="320040" cy="54864"/>
          </a:xfrm>
          <a:prstGeom prst="roundRect">
            <a:avLst>
              <a:gd name="adj" fmla="val 50000"/>
            </a:avLst>
          </a:prstGeom>
          <a:solidFill>
            <a:srgbClr val="9B6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381304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EF1F8"/>
                </a:solidFill>
                <a:latin typeface="Helvetica Neue"/>
              </a:rPr>
              <a:t>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3813048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AA3B8"/>
                </a:solidFill>
                <a:latin typeface="Helvetica Neue"/>
              </a:rPr>
              <a:t>MUS442_Final_Presentation_Board.png / .pdf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398264"/>
            <a:ext cx="6949440" cy="566928"/>
          </a:xfrm>
          <a:prstGeom prst="roundRect">
            <a:avLst>
              <a:gd name="adj" fmla="val 8000"/>
            </a:avLst>
          </a:prstGeom>
          <a:solidFill>
            <a:srgbClr val="14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3232" y="4636008"/>
            <a:ext cx="320040" cy="54864"/>
          </a:xfrm>
          <a:prstGeom prst="roundRect">
            <a:avLst>
              <a:gd name="adj" fmla="val 50000"/>
            </a:avLst>
          </a:prstGeom>
          <a:solidFill>
            <a:srgbClr val="FFD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489704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EF1F8"/>
                </a:solidFill>
                <a:latin typeface="Helvetica Neue"/>
              </a:rPr>
              <a:t>Media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4489704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AA3B8"/>
                </a:solidFill>
                <a:latin typeface="Helvetica Neue"/>
              </a:rPr>
              <a:t>90-second teaser + original Quest 3S headset recording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74920"/>
            <a:ext cx="6949440" cy="566928"/>
          </a:xfrm>
          <a:prstGeom prst="roundRect">
            <a:avLst>
              <a:gd name="adj" fmla="val 8000"/>
            </a:avLst>
          </a:prstGeom>
          <a:solidFill>
            <a:srgbClr val="191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13232" y="5312664"/>
            <a:ext cx="320040" cy="54864"/>
          </a:xfrm>
          <a:prstGeom prst="roundRect">
            <a:avLst>
              <a:gd name="adj" fmla="val 50000"/>
            </a:avLst>
          </a:prstGeom>
          <a:solidFill>
            <a:srgbClr val="39E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516636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EF1F8"/>
                </a:solidFill>
                <a:latin typeface="Helvetica Neue"/>
              </a:rPr>
              <a:t>Bilgi Learn note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1800" y="5166360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AA3B8"/>
                </a:solidFill>
                <a:latin typeface="Helvetica Neue"/>
              </a:rPr>
              <a:t>video is evidence; headset is the full experience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26679" y="1691640"/>
            <a:ext cx="3959352" cy="2194560"/>
          </a:xfrm>
          <a:prstGeom prst="roundRect">
            <a:avLst>
              <a:gd name="adj" fmla="val 8000"/>
            </a:avLst>
          </a:prstGeom>
          <a:solidFill>
            <a:srgbClr val="191E2C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1000" y="1901952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39E1EE"/>
                </a:solidFill>
                <a:latin typeface="Helvetica Neue"/>
              </a:rPr>
              <a:t>FINAL CHECKS BEFORE LIVE SUBMISSION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2240280"/>
            <a:ext cx="3429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0" i="0">
                <a:solidFill>
                  <a:srgbClr val="39E1EE"/>
                </a:solidFill>
                <a:latin typeface="Helvetica Neue"/>
              </a:rPr>
              <a:t>☐  </a:t>
            </a:r>
            <a:r>
              <a:rPr sz="1200" b="0" i="0">
                <a:solidFill>
                  <a:srgbClr val="EEF1F8"/>
                </a:solidFill>
                <a:latin typeface="Helvetica Neue"/>
              </a:rPr>
              <a:t>run full Quest 3S regression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0" i="0">
                <a:solidFill>
                  <a:srgbClr val="39E1EE"/>
                </a:solidFill>
                <a:latin typeface="Helvetica Neue"/>
              </a:rPr>
              <a:t>☐  </a:t>
            </a:r>
            <a:r>
              <a:rPr sz="1200" b="0" i="0">
                <a:solidFill>
                  <a:srgbClr val="EEF1F8"/>
                </a:solidFill>
                <a:latin typeface="Helvetica Neue"/>
              </a:rPr>
              <a:t>verify Scene 4 serialized setup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0" i="0">
                <a:solidFill>
                  <a:srgbClr val="39E1EE"/>
                </a:solidFill>
                <a:latin typeface="Helvetica Neue"/>
              </a:rPr>
              <a:t>☐  </a:t>
            </a:r>
            <a:r>
              <a:rPr sz="1200" b="0" i="0">
                <a:solidFill>
                  <a:srgbClr val="EEF1F8"/>
                </a:solidFill>
                <a:latin typeface="Helvetica Neue"/>
              </a:rPr>
              <a:t>complete the loudness pass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00" b="0" i="0">
                <a:solidFill>
                  <a:srgbClr val="39E1EE"/>
                </a:solidFill>
                <a:latin typeface="Helvetica Neue"/>
              </a:rPr>
              <a:t>☐  </a:t>
            </a:r>
            <a:r>
              <a:rPr sz="1200" b="0" i="0">
                <a:solidFill>
                  <a:srgbClr val="EEF1F8"/>
                </a:solidFill>
                <a:latin typeface="Helvetica Neue"/>
              </a:rPr>
              <a:t>export the final recording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26679" y="4069080"/>
            <a:ext cx="3959352" cy="1737360"/>
          </a:xfrm>
          <a:prstGeom prst="roundRect">
            <a:avLst>
              <a:gd name="adj" fmla="val 8000"/>
            </a:avLst>
          </a:prstGeom>
          <a:solidFill>
            <a:srgbClr val="141823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qr_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4343400"/>
            <a:ext cx="1188720" cy="1188720"/>
          </a:xfrm>
          <a:prstGeom prst="rect">
            <a:avLst/>
          </a:prstGeom>
          <a:effectLst/>
        </p:spPr>
      </p:pic>
      <p:sp>
        <p:nvSpPr>
          <p:cNvPr id="33" name="TextBox 32"/>
          <p:cNvSpPr txBox="1"/>
          <p:nvPr/>
        </p:nvSpPr>
        <p:spPr>
          <a:xfrm>
            <a:off x="9372600" y="4526280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39E1EE"/>
                </a:solidFill>
                <a:latin typeface="Helvetica Neue"/>
              </a:rPr>
              <a:t>semihapaksoy.com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72600" y="4892040"/>
            <a:ext cx="2240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9AA3B8"/>
                </a:solidFill>
                <a:latin typeface="Helvetica Neue"/>
              </a:rPr>
              <a:t>project page, teaser and full documentation online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6510528"/>
            <a:ext cx="11183112" cy="10160"/>
          </a:xfrm>
          <a:prstGeom prst="rect">
            <a:avLst/>
          </a:prstGeom>
          <a:solidFill>
            <a:srgbClr val="26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7488"/>
                </a:solidFill>
                <a:latin typeface="Helvetica Neue"/>
              </a:rPr>
              <a:t>Mind Palace  ·  Semiha Paksoy  ·  MUS 442 Senior Project II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6583680"/>
            <a:ext cx="39136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39E1EE"/>
                </a:solidFill>
                <a:latin typeface="Helvetica Neue"/>
              </a:rPr>
              <a:t>semihapaksoy.com</a:t>
            </a:r>
            <a:r>
              <a:rPr sz="1000" b="0" i="0">
                <a:solidFill>
                  <a:srgbClr val="6B7488"/>
                </a:solidFill>
                <a:latin typeface="Helvetica Neue"/>
              </a:rPr>
              <a:t>   ·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D02E"/>
                </a:solidFill>
                <a:latin typeface="Helvetica Neue"/>
              </a:rPr>
              <a:t>13</a:t>
            </a:r>
            <a:r>
              <a:rPr sz="1250" b="0" i="0">
                <a:solidFill>
                  <a:srgbClr val="6B7488"/>
                </a:solidFill>
                <a:latin typeface="Helvetica Neue"/>
              </a:rPr>
              <a:t>  ·  </a:t>
            </a:r>
            <a:r>
              <a:rPr sz="1250" b="1" i="0" spc="220">
                <a:solidFill>
                  <a:srgbClr val="FFD02E"/>
                </a:solidFill>
                <a:latin typeface="Helvetica Neue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83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500" b="1" i="0">
                <a:solidFill>
                  <a:srgbClr val="EEF1F8"/>
                </a:solidFill>
                <a:latin typeface="Helvetica Neue"/>
              </a:rPr>
              <a:t>The influence list now includes Dancer in the Dark.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6035040" cy="4206240"/>
          </a:xfrm>
          <a:prstGeom prst="roundRect">
            <a:avLst>
              <a:gd name="adj" fmla="val 8000"/>
            </a:avLst>
          </a:prstGeom>
          <a:solidFill>
            <a:srgbClr val="141823"/>
          </a:solidFill>
          <a:ln w="9525">
            <a:solidFill>
              <a:srgbClr val="26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350" b="0" i="0">
                <a:solidFill>
                  <a:srgbClr val="FFD02E"/>
                </a:solidFill>
                <a:latin typeface="Helvetica Neue"/>
              </a:rPr>
              <a:t>—  </a:t>
            </a:r>
            <a:r>
              <a:rPr sz="1350" b="0" i="0">
                <a:solidFill>
                  <a:srgbClr val="EEF1F8"/>
                </a:solidFill>
                <a:latin typeface="Helvetica Neue"/>
              </a:rPr>
              <a:t>Somer (2002), Maladaptive Daydreaming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350" b="0" i="0">
                <a:solidFill>
                  <a:srgbClr val="FFD02E"/>
                </a:solidFill>
                <a:latin typeface="Helvetica Neue"/>
              </a:rPr>
              <a:t>—  </a:t>
            </a:r>
            <a:r>
              <a:rPr sz="1350" b="0" i="0">
                <a:solidFill>
                  <a:srgbClr val="EEF1F8"/>
                </a:solidFill>
                <a:latin typeface="Helvetica Neue"/>
              </a:rPr>
              <a:t>Marx (1844), Economic and Philosophic Manuscripts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350" b="0" i="0">
                <a:solidFill>
                  <a:srgbClr val="FFD02E"/>
                </a:solidFill>
                <a:latin typeface="Helvetica Neue"/>
              </a:rPr>
              <a:t>—  </a:t>
            </a:r>
            <a:r>
              <a:rPr sz="1350" b="0" i="0">
                <a:solidFill>
                  <a:srgbClr val="EEF1F8"/>
                </a:solidFill>
                <a:latin typeface="Helvetica Neue"/>
              </a:rPr>
              <a:t>Breton (1924), Manifesto of Surrealism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350" b="0" i="0">
                <a:solidFill>
                  <a:srgbClr val="FFD02E"/>
                </a:solidFill>
                <a:latin typeface="Helvetica Neue"/>
              </a:rPr>
              <a:t>—  </a:t>
            </a:r>
            <a:r>
              <a:rPr sz="1350" b="0" i="0">
                <a:solidFill>
                  <a:srgbClr val="EEF1F8"/>
                </a:solidFill>
                <a:latin typeface="Helvetica Neue"/>
              </a:rPr>
              <a:t>Eno (1978), Ambient 1: Music for Airports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350" b="0" i="0">
                <a:solidFill>
                  <a:srgbClr val="FFD02E"/>
                </a:solidFill>
                <a:latin typeface="Helvetica Neue"/>
              </a:rPr>
              <a:t>—  </a:t>
            </a:r>
            <a:r>
              <a:rPr sz="1350" b="0" i="0">
                <a:solidFill>
                  <a:srgbClr val="EEF1F8"/>
                </a:solidFill>
                <a:latin typeface="Helvetica Neue"/>
              </a:rPr>
              <a:t>Radiohead and Epic Games (2021), Kid A Mnesia Exhibition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350" b="0" i="0">
                <a:solidFill>
                  <a:srgbClr val="FFD02E"/>
                </a:solidFill>
                <a:latin typeface="Helvetica Neue"/>
              </a:rPr>
              <a:t>—  </a:t>
            </a:r>
            <a:r>
              <a:rPr sz="1350" b="0" i="0">
                <a:solidFill>
                  <a:srgbClr val="EEF1F8"/>
                </a:solidFill>
                <a:latin typeface="Helvetica Neue"/>
              </a:rPr>
              <a:t>von Trier (Director, 2000), Dancer in the Dark [Film]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350" b="0" i="0">
                <a:solidFill>
                  <a:srgbClr val="FFD02E"/>
                </a:solidFill>
                <a:latin typeface="Helvetica Neue"/>
              </a:rPr>
              <a:t>—  </a:t>
            </a:r>
            <a:r>
              <a:rPr sz="1350" b="0" i="0">
                <a:solidFill>
                  <a:srgbClr val="EEF1F8"/>
                </a:solidFill>
                <a:latin typeface="Helvetica Neue"/>
              </a:rPr>
              <a:t>Unity and Meta Quest developer documentation</a:t>
            </a:r>
          </a:p>
        </p:txBody>
      </p:sp>
      <p:pic>
        <p:nvPicPr>
          <p:cNvPr id="6" name="Picture 5" descr="lp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40"/>
            <a:ext cx="4754880" cy="2674620"/>
          </a:xfrm>
          <a:prstGeom prst="rect">
            <a:avLst/>
          </a:prstGeom>
          <a:ln w="9525">
            <a:solidFill>
              <a:srgbClr val="262D40"/>
            </a:solidFill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6903720" y="4526280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EEF1F8"/>
                </a:solidFill>
                <a:latin typeface="Helvetica Neue"/>
              </a:rPr>
              <a:t>Thank you.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513892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D02E"/>
                </a:solidFill>
                <a:latin typeface="Helvetica Neue"/>
              </a:rPr>
              <a:t>Semiha Paksoy</a:t>
            </a:r>
            <a:r>
              <a:rPr sz="1500" b="0" i="0">
                <a:solidFill>
                  <a:srgbClr val="6B7488"/>
                </a:solidFill>
                <a:latin typeface="Helvetica Neue"/>
              </a:rPr>
              <a:t>   ·   </a:t>
            </a:r>
            <a:r>
              <a:rPr sz="1500" b="1" i="0">
                <a:solidFill>
                  <a:srgbClr val="39E1EE"/>
                </a:solidFill>
                <a:latin typeface="Helvetica Neue"/>
              </a:rPr>
              <a:t>semihapaksoy.com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5532120"/>
            <a:ext cx="4754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A3B8"/>
                </a:solidFill>
                <a:latin typeface="Helvetica Neue"/>
              </a:rPr>
              <a:t>Mind Palace — a VR loop about the clocks hidden inside escape.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0160"/>
          </a:xfrm>
          <a:prstGeom prst="rect">
            <a:avLst/>
          </a:prstGeom>
          <a:solidFill>
            <a:srgbClr val="26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7488"/>
                </a:solidFill>
                <a:latin typeface="Helvetica Neue"/>
              </a:rPr>
              <a:t>Mind Palace  ·  Semiha Paksoy  ·  MUS 442 Senior Project 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6583680"/>
            <a:ext cx="39136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39E1EE"/>
                </a:solidFill>
                <a:latin typeface="Helvetica Neue"/>
              </a:rPr>
              <a:t>semihapaksoy.com</a:t>
            </a:r>
            <a:r>
              <a:rPr sz="1000" b="0" i="0">
                <a:solidFill>
                  <a:srgbClr val="6B7488"/>
                </a:solidFill>
                <a:latin typeface="Helvetica Neue"/>
              </a:rPr>
              <a:t>   · 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